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Before (texte seul)</c:v>
                </c:pt>
              </c:strCache>
            </c:strRef>
          </c:tx>
          <c:spPr>
            <a:solidFill>
              <a:srgbClr val="CADCFC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1B2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Faithfulness</c:v>
                  </c:pt>
                  <c:pt idx="1">
                    <c:v>Answer
Relevancy</c:v>
                  </c:pt>
                  <c:pt idx="2">
                    <c:v>Context
Precision</c:v>
                  </c:pt>
                  <c:pt idx="3">
                    <c:v>Context
Recall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0.867</c:v>
                </c:pt>
                <c:pt idx="1">
                  <c:v>0.295</c:v>
                </c:pt>
                <c:pt idx="2">
                  <c:v>0.274</c:v>
                </c:pt>
                <c:pt idx="3">
                  <c:v>0.346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After (+ SQL Tool)</c:v>
                </c:pt>
              </c:strCache>
            </c:strRef>
          </c:tx>
          <c:spPr>
            <a:solidFill>
              <a:srgbClr val="E8702A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1B2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Faithfulness</c:v>
                  </c:pt>
                  <c:pt idx="1">
                    <c:v>Answer
Relevancy</c:v>
                  </c:pt>
                  <c:pt idx="2">
                    <c:v>Context
Precision</c:v>
                  </c:pt>
                  <c:pt idx="3">
                    <c:v>Context
Recall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0.673</c:v>
                </c:pt>
                <c:pt idx="1">
                  <c:v>0.581</c:v>
                </c:pt>
                <c:pt idx="2">
                  <c:v>0.403</c:v>
                </c:pt>
                <c:pt idx="3">
                  <c:v>0.577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000" u="none">
                  <a:solidFill>
                    <a:srgbClr val="1B1B2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B1B2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9525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B1B2F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Bonjour, je vais vous présenter SportSee, un assistant conversationnel destiné aux coachs et analystes NBA, et surtout la démarche d'évaluation objective que j'ai menée pour mesurer l'apport réel d'un enrichissement SQL à un système RAG classique.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point de départ, c'est un constat simple : un RAG purement textuel sait bien répondre à des questions qualitatives, mais échoue structurellement sur les questions chiffrées précises. L'enjeu de la mission était de le vérifier, pas de le supposer — d'où la démarche d'évaluation comparative avant/après.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routeur, construit avec Pydantic AI, décide automatiquement si une question a besoin du contexte texte, du SQL Tool, ou des deux. Le SQL Tool génère sa requête via LangChain (create_sql_query_chain + ChatMistralAI), avec un repli automatique sur un appel direct au SDK Mistral si LangChain échoue. Il ne génère jamais de requête destructrice : validation Pydantic en entrée, SELECT uniquement, limite de lignes, et surtout un mécanisme NO_DATA pour refuser plutôt qu'inventer quand la donnée n'existe pas. La base de données est PostgreSQL.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J'ai volontairement inclus deux questions irréalisables — pas de données match par match dans le fichier source — pour vérifier que le système sait dire 'je ne sais pas' plutôt que d'halluciner un chiffre. C'est un point que je détaillerai.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SQL Tool améliore nettement 3 métriques sur 4. La pertinence des réponses (+0,29) et le rappel du contexte (+0,23) progressent fortement : le système trouve et utilise mieux l'information nécessaire. La faithfulness recule, j'y reviens dans deux slides — ce n'est pas ce que ça semble être au premier regard.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Ces deux exemples illustrent concrètement pourquoi les métriques bougent : le texte seul peut halluciner en toute confiance quand le retrieval se trompe de document, alors que le SQL Tool donne une réponse vérifiable, traçable, directement issue de la base.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C'est le point le plus important de mon analyse critique : une baisse de score n'est pas automatiquement une baisse de qualité. J'ai vérifié chaque cas ligne par ligne dans les CSV plutôt que de me fier à la moyenne brute, et ça change complètement l'interprétation.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Au-delà de l'évaluation RAGAS, qui mesure la qualité des réponses, j'ai construit une couche de fiabilité indépendante : des garde-fous qui empêchent le SQL Tool de sortir de son périmètre, des tests unitaires qui vérifient que ces garde-fous continuent de fonctionner à chaque modification du code, et une observabilité en continu pour détecter tout problème en production, pas seulement au moment de l'évaluation.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Cette diapositive est un emplacement réservé : à remplacer par une vraie capture d'écran de mon dashboard Logfire avant la soutenance (ou à montrer en direct, ce qui est explicitement attendu). Logfire trace chaque étape du pipeline — recherche vectorielle, génération et exécution SQL via LangChain, génération finale Mistral — ce qui m'a permis de détecter plusieurs bugs réels en conditions d'usage, documentés dans le rapport (ex: l'incohérence needs_plot/needs_sql).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système intègre aussi un OCR de secours pour les rapports scannés, et un outil de visualisation dynamique. J'ai gardé le même principe de sécurité que pour le SQL Tool : aucun de ces deux composants ne peut inventer une donnée — l'OCR échoue proprement sans clé API, et le PlotTool ne trace que des chiffres déjà vérifiés par le SQL Tool.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Je préfère assumer ces limites explicitement plutôt que de présenter un score parfait qui ne résisterait pas à un examen approfondi — c'est d'ailleurs toute la démarche de ce rapport.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Pour conclure : le SQL Tool comble un vrai manque du RAG textuel seul, et je peux le prouver avec des chiffres plutôt qu'une affirmation — c'était l'objectif de cette mission. Je suis prête à répondre à vos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1.png"/><Relationship Id="rId3" Type="http://schemas.openxmlformats.org/officeDocument/2006/relationships/image" Target="../media/image-4-1.png"/><Relationship Id="rId4" Type="http://schemas.openxmlformats.org/officeDocument/2006/relationships/image" Target="../media/image-4-1.png"/><Relationship Id="rId5" Type="http://schemas.openxmlformats.org/officeDocument/2006/relationships/image" Target="../media/image-4-1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1.png"/><Relationship Id="rId3" Type="http://schemas.openxmlformats.org/officeDocument/2006/relationships/image" Target="../media/image-11-1.png"/><Relationship Id="rId4" Type="http://schemas.openxmlformats.org/officeDocument/2006/relationships/image" Target="../media/image-11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1.png"/><Relationship Id="rId3" Type="http://schemas.openxmlformats.org/officeDocument/2006/relationships/image" Target="../media/image-1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13248" y="685800"/>
            <a:ext cx="1371600" cy="1371600"/>
          </a:xfrm>
          <a:prstGeom prst="ellipse">
            <a:avLst/>
          </a:prstGeom>
          <a:solidFill>
            <a:srgbClr val="E8702A"/>
          </a:solidFill>
          <a:ln/>
        </p:spPr>
      </p:sp>
      <p:pic>
        <p:nvPicPr>
          <p:cNvPr id="3" name="Image 0" descr="/sessions/busy-trusting-darwin/mnt/outputs/pptx_build/icons/basketball_FFFFF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91556" y="864108"/>
            <a:ext cx="1014984" cy="10149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2331720"/>
            <a:ext cx="107259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SportSee</a:t>
            </a:r>
            <a:endParaRPr lang="en-US" sz="4800" dirty="0"/>
          </a:p>
        </p:txBody>
      </p:sp>
      <p:sp>
        <p:nvSpPr>
          <p:cNvPr id="5" name="Text 2"/>
          <p:cNvSpPr/>
          <p:nvPr/>
        </p:nvSpPr>
        <p:spPr>
          <a:xfrm>
            <a:off x="731520" y="315468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87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NBA Analyst AI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1645920" y="3977640"/>
            <a:ext cx="8897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assistant conversationnel hybride RAG + SQL, évalué objectivement avec RAGAS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5175504" y="4709160"/>
            <a:ext cx="1828800" cy="0"/>
          </a:xfrm>
          <a:prstGeom prst="line">
            <a:avLst/>
          </a:prstGeom>
          <a:noFill/>
          <a:ln w="19050">
            <a:solidFill>
              <a:srgbClr val="E8702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645920" y="4892040"/>
            <a:ext cx="8897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Mission : Évaluez les performances d’un LLM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645920" y="6172200"/>
            <a:ext cx="8897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Fatima Adda  —  Août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Contexte et mission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besoin de Sarah, product owner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4754880" cy="1828800"/>
          </a:xfrm>
          <a:prstGeom prst="roundRect">
            <a:avLst>
              <a:gd name="adj" fmla="val 6000"/>
            </a:avLst>
          </a:prstGeom>
          <a:solidFill>
            <a:srgbClr val="F4F6FC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2011680"/>
            <a:ext cx="777240" cy="7772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6" name="Image 0" descr="/sessions/busy-trusting-darwin/mnt/outputs/pptx_build/icons/comments_FFFFF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9721" y="2112721"/>
            <a:ext cx="575158" cy="5751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0574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Qualitatives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914400" y="278892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Archives texte : discussions Reddit r/nba, rapports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541264" y="2423160"/>
            <a:ext cx="457200" cy="457200"/>
          </a:xfrm>
          <a:prstGeom prst="ellipse">
            <a:avLst/>
          </a:prstGeom>
          <a:solidFill>
            <a:srgbClr val="E8702A"/>
          </a:solidFill>
          <a:ln/>
        </p:spPr>
      </p:sp>
      <p:pic>
        <p:nvPicPr>
          <p:cNvPr id="10" name="Image 1" descr="/sessions/busy-trusting-darwin/mnt/outputs/pptx_build/icons/plus_FFFFF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0700" y="2482596"/>
            <a:ext cx="338328" cy="338328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6272784" y="1737360"/>
            <a:ext cx="4754880" cy="1828800"/>
          </a:xfrm>
          <a:prstGeom prst="roundRect">
            <a:avLst>
              <a:gd name="adj" fmla="val 6000"/>
            </a:avLst>
          </a:prstGeom>
          <a:solidFill>
            <a:srgbClr val="F4F6FC"/>
          </a:solidFill>
          <a:ln/>
        </p:spPr>
      </p:sp>
      <p:sp>
        <p:nvSpPr>
          <p:cNvPr id="12" name="Shape 8"/>
          <p:cNvSpPr/>
          <p:nvPr/>
        </p:nvSpPr>
        <p:spPr>
          <a:xfrm>
            <a:off x="6592824" y="2011680"/>
            <a:ext cx="777240" cy="7772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3" name="Image 2" descr="/sessions/busy-trusting-darwin/mnt/outputs/pptx_build/icons/chartBar_FFFFFF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3865" y="2112721"/>
            <a:ext cx="575158" cy="57515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7552944" y="20574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Quantitatives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6638544" y="278892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Statistiques joueurs / équipes (fichier regular_NBA.xlsx)</a:t>
            </a:r>
            <a:endParaRPr lang="en-US" sz="1250" dirty="0"/>
          </a:p>
        </p:txBody>
      </p:sp>
      <p:sp>
        <p:nvSpPr>
          <p:cNvPr id="16" name="Text 11"/>
          <p:cNvSpPr/>
          <p:nvPr/>
        </p:nvSpPr>
        <p:spPr>
          <a:xfrm>
            <a:off x="548640" y="38862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 double</a:t>
            </a:r>
            <a:endParaRPr lang="en-US" sz="1500" dirty="0"/>
          </a:p>
        </p:txBody>
      </p:sp>
      <p:sp>
        <p:nvSpPr>
          <p:cNvPr id="17" name="Shape 12"/>
          <p:cNvSpPr/>
          <p:nvPr/>
        </p:nvSpPr>
        <p:spPr>
          <a:xfrm>
            <a:off x="548640" y="4343400"/>
            <a:ext cx="10908792" cy="777240"/>
          </a:xfrm>
          <a:prstGeom prst="roundRect">
            <a:avLst>
              <a:gd name="adj" fmla="val 11765"/>
            </a:avLst>
          </a:prstGeom>
          <a:solidFill>
            <a:srgbClr val="1E2761"/>
          </a:solidFill>
          <a:ln/>
        </p:spPr>
      </p:sp>
      <p:sp>
        <p:nvSpPr>
          <p:cNvPr id="18" name="Text 13"/>
          <p:cNvSpPr/>
          <p:nvPr/>
        </p:nvSpPr>
        <p:spPr>
          <a:xfrm>
            <a:off x="822960" y="4416552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7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Construire un prototype combinant recherche vectorielle (RAG) et interrogation SQL</a:t>
            </a:r>
            <a:endParaRPr lang="en-US" sz="1600" dirty="0"/>
          </a:p>
        </p:txBody>
      </p:sp>
      <p:sp>
        <p:nvSpPr>
          <p:cNvPr id="19" name="Text 14"/>
          <p:cNvSpPr/>
          <p:nvPr/>
        </p:nvSpPr>
        <p:spPr>
          <a:xfrm>
            <a:off x="822960" y="4754880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7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Évaluer objectivement l’apport du SQL Tool avec le framework RAGAS (before / after)</a:t>
            </a:r>
            <a:endParaRPr lang="en-US" sz="1600" dirty="0"/>
          </a:p>
        </p:txBody>
      </p:sp>
      <p:sp>
        <p:nvSpPr>
          <p:cNvPr id="20" name="Text 15"/>
          <p:cNvSpPr/>
          <p:nvPr/>
        </p:nvSpPr>
        <p:spPr>
          <a:xfrm>
            <a:off x="548640" y="5349240"/>
            <a:ext cx="10908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RAG purement textuel répond bien aux questions qualitatives, mais échoue sur les questions chiffrées précises — et peut même inventer un chiffre.</a:t>
            </a:r>
            <a:endParaRPr lang="en-US" sz="1250" dirty="0"/>
          </a:p>
        </p:txBody>
      </p:sp>
      <p:sp>
        <p:nvSpPr>
          <p:cNvPr id="21" name="Text 16"/>
          <p:cNvSpPr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SportSee — NBA Analyst AI</a:t>
            </a:r>
            <a:endParaRPr lang="en-US" sz="900" dirty="0"/>
          </a:p>
        </p:txBody>
      </p:sp>
      <p:sp>
        <p:nvSpPr>
          <p:cNvPr id="22" name="Text 17"/>
          <p:cNvSpPr/>
          <p:nvPr/>
        </p:nvSpPr>
        <p:spPr>
          <a:xfrm>
            <a:off x="1133856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 du système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270248" y="1371600"/>
            <a:ext cx="3657600" cy="548640"/>
          </a:xfrm>
          <a:prstGeom prst="roundRect">
            <a:avLst>
              <a:gd name="adj" fmla="val 13333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4270248" y="13716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utilisateur (Streamlit)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870448" y="1965960"/>
            <a:ext cx="457200" cy="320040"/>
          </a:xfrm>
          <a:prstGeom prst="downArrow">
            <a:avLst/>
          </a:prstGeom>
          <a:solidFill>
            <a:srgbClr val="CADCFC"/>
          </a:solidFill>
          <a:ln/>
        </p:spPr>
      </p:sp>
      <p:sp>
        <p:nvSpPr>
          <p:cNvPr id="6" name="Shape 4"/>
          <p:cNvSpPr/>
          <p:nvPr/>
        </p:nvSpPr>
        <p:spPr>
          <a:xfrm>
            <a:off x="3813048" y="2331720"/>
            <a:ext cx="4572000" cy="548640"/>
          </a:xfrm>
          <a:prstGeom prst="roundRect">
            <a:avLst>
              <a:gd name="adj" fmla="val 13333"/>
            </a:avLst>
          </a:prstGeom>
          <a:solidFill>
            <a:srgbClr val="F4F6FC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77640" y="2423160"/>
            <a:ext cx="365760" cy="36576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8" name="Image 0" descr="/sessions/busy-trusting-darwin/mnt/outputs/pptx_build/icons/branch_FFFFF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25189" y="2470709"/>
            <a:ext cx="270662" cy="27066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434840" y="233172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Routeur Pydantic AI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 flipH="1">
            <a:off x="3108960" y="2880360"/>
            <a:ext cx="2761488" cy="502920"/>
          </a:xfrm>
          <a:prstGeom prst="bentConnector2">
            <a:avLst/>
          </a:prstGeom>
          <a:noFill/>
          <a:ln w="25400">
            <a:solidFill>
              <a:srgbClr val="CADCF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327648" y="2880360"/>
            <a:ext cx="2761488" cy="502920"/>
          </a:xfrm>
          <a:prstGeom prst="bentConnector2">
            <a:avLst/>
          </a:prstGeom>
          <a:noFill/>
          <a:ln w="25400">
            <a:solidFill>
              <a:srgbClr val="CADCF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914400" y="3383280"/>
            <a:ext cx="4480560" cy="777240"/>
          </a:xfrm>
          <a:prstGeom prst="roundRect">
            <a:avLst>
              <a:gd name="adj" fmla="val 9412"/>
            </a:avLst>
          </a:prstGeom>
          <a:solidFill>
            <a:srgbClr val="F4F6FC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097280" y="3502152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4" name="Image 1" descr="/sessions/busy-trusting-darwin/mnt/outputs/pptx_build/icons/search_FFFFF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8603" y="3573475"/>
            <a:ext cx="405994" cy="405994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828800" y="3456432"/>
            <a:ext cx="3429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Recherche vectorielle
</a:t>
            </a:r>
            <a:pPr algn="l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Mistral embeddings — FAISS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6793992" y="3383280"/>
            <a:ext cx="4480560" cy="777240"/>
          </a:xfrm>
          <a:prstGeom prst="roundRect">
            <a:avLst>
              <a:gd name="adj" fmla="val 9412"/>
            </a:avLst>
          </a:prstGeom>
          <a:solidFill>
            <a:srgbClr val="F4F6FC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6976872" y="3502152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8" name="Image 2" descr="/sessions/busy-trusting-darwin/mnt/outputs/pptx_build/icons/database_FFFFFF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8195" y="3573475"/>
            <a:ext cx="405994" cy="405994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7708392" y="3456432"/>
            <a:ext cx="3429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Tool
</a:t>
            </a:r>
            <a:pPr algn="l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LangChain NL → SQL + garde-fous — PostgreSQL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3108960" y="4160520"/>
            <a:ext cx="2761488" cy="502920"/>
          </a:xfrm>
          <a:prstGeom prst="bentConnector2">
            <a:avLst/>
          </a:prstGeom>
          <a:noFill/>
          <a:ln w="25400">
            <a:solidFill>
              <a:srgbClr val="CADCFC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 flipH="1">
            <a:off x="6327648" y="4160520"/>
            <a:ext cx="2761488" cy="502920"/>
          </a:xfrm>
          <a:prstGeom prst="bentConnector2">
            <a:avLst/>
          </a:prstGeom>
          <a:noFill/>
          <a:ln w="25400">
            <a:solidFill>
              <a:srgbClr val="CADCFC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3813048" y="4663440"/>
            <a:ext cx="4572000" cy="594360"/>
          </a:xfrm>
          <a:prstGeom prst="roundRect">
            <a:avLst>
              <a:gd name="adj" fmla="val 12308"/>
            </a:avLst>
          </a:prstGeom>
          <a:solidFill>
            <a:srgbClr val="1E2761"/>
          </a:solidFill>
          <a:ln/>
        </p:spPr>
      </p:sp>
      <p:sp>
        <p:nvSpPr>
          <p:cNvPr id="23" name="Shape 18"/>
          <p:cNvSpPr/>
          <p:nvPr/>
        </p:nvSpPr>
        <p:spPr>
          <a:xfrm>
            <a:off x="3977640" y="4736592"/>
            <a:ext cx="457200" cy="457200"/>
          </a:xfrm>
          <a:prstGeom prst="ellipse">
            <a:avLst/>
          </a:prstGeom>
          <a:solidFill>
            <a:srgbClr val="E8702A"/>
          </a:solidFill>
          <a:ln/>
        </p:spPr>
      </p:sp>
      <p:pic>
        <p:nvPicPr>
          <p:cNvPr id="24" name="Image 3" descr="/sessions/busy-trusting-darwin/mnt/outputs/pptx_build/icons/robot_FFFFFF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37076" y="4796028"/>
            <a:ext cx="338328" cy="338328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4572000" y="4663440"/>
            <a:ext cx="3703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Génération Mistral — réponse fondée strictement sur le contexte récupéré</a:t>
            </a:r>
            <a:endParaRPr lang="en-US" sz="1150" dirty="0"/>
          </a:p>
        </p:txBody>
      </p:sp>
      <p:sp>
        <p:nvSpPr>
          <p:cNvPr id="26" name="Shape 20"/>
          <p:cNvSpPr/>
          <p:nvPr/>
        </p:nvSpPr>
        <p:spPr>
          <a:xfrm>
            <a:off x="5870448" y="5303520"/>
            <a:ext cx="457200" cy="274320"/>
          </a:xfrm>
          <a:prstGeom prst="downArrow">
            <a:avLst/>
          </a:prstGeom>
          <a:solidFill>
            <a:srgbClr val="CADCFC"/>
          </a:solidFill>
          <a:ln/>
        </p:spPr>
      </p:sp>
      <p:sp>
        <p:nvSpPr>
          <p:cNvPr id="27" name="Shape 21"/>
          <p:cNvSpPr/>
          <p:nvPr/>
        </p:nvSpPr>
        <p:spPr>
          <a:xfrm>
            <a:off x="4270248" y="5623560"/>
            <a:ext cx="3657600" cy="502920"/>
          </a:xfrm>
          <a:prstGeom prst="roundRect">
            <a:avLst>
              <a:gd name="adj" fmla="val 14545"/>
            </a:avLst>
          </a:prstGeom>
          <a:solidFill>
            <a:srgbClr val="E8702A"/>
          </a:solidFill>
          <a:ln/>
        </p:spPr>
      </p:sp>
      <p:sp>
        <p:nvSpPr>
          <p:cNvPr id="28" name="Text 22"/>
          <p:cNvSpPr/>
          <p:nvPr/>
        </p:nvSpPr>
        <p:spPr>
          <a:xfrm>
            <a:off x="4270248" y="562356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Réponse (+ SQL traçable si utilisé)</a:t>
            </a:r>
            <a:endParaRPr lang="en-US" sz="1200" dirty="0"/>
          </a:p>
        </p:txBody>
      </p:sp>
      <p:sp>
        <p:nvSpPr>
          <p:cNvPr id="29" name="Shape 23"/>
          <p:cNvSpPr/>
          <p:nvPr/>
        </p:nvSpPr>
        <p:spPr>
          <a:xfrm>
            <a:off x="10881360" y="5394960"/>
            <a:ext cx="411480" cy="41148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30" name="Image 4" descr="/sessions/busy-trusting-darwin/mnt/outputs/pptx_build/icons/eye_1E276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34852" y="5448452"/>
            <a:ext cx="304495" cy="304495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9464040" y="58521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Observabilité :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Pydantic Logfire</a:t>
            </a:r>
            <a:endParaRPr lang="en-US" sz="1000" dirty="0"/>
          </a:p>
        </p:txBody>
      </p:sp>
      <p:sp>
        <p:nvSpPr>
          <p:cNvPr id="32" name="Text 25"/>
          <p:cNvSpPr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SportSee — NBA Analyst AI</a:t>
            </a:r>
            <a:endParaRPr lang="en-US" sz="900" dirty="0"/>
          </a:p>
        </p:txBody>
      </p:sp>
      <p:sp>
        <p:nvSpPr>
          <p:cNvPr id="33" name="Text 26"/>
          <p:cNvSpPr/>
          <p:nvPr/>
        </p:nvSpPr>
        <p:spPr>
          <a:xfrm>
            <a:off x="1133856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Méthodologie d’évaluation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365760" cy="365760"/>
          </a:xfrm>
          <a:prstGeom prst="ellipse">
            <a:avLst/>
          </a:prstGeom>
          <a:solidFill>
            <a:srgbClr val="F4F6FC"/>
          </a:solidFill>
          <a:ln/>
        </p:spPr>
      </p:sp>
      <p:pic>
        <p:nvPicPr>
          <p:cNvPr id="4" name="Image 0" descr="/sessions/busy-trusting-darwin/mnt/outputs/pptx_build/icons/checkCircle_1E276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6189" y="1464869"/>
            <a:ext cx="270662" cy="27066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51560" y="141732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Texte simple / complexe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1984248"/>
            <a:ext cx="365760" cy="365760"/>
          </a:xfrm>
          <a:prstGeom prst="ellipse">
            <a:avLst/>
          </a:prstGeom>
          <a:solidFill>
            <a:srgbClr val="F4F6FC"/>
          </a:solidFill>
          <a:ln/>
        </p:spPr>
      </p:sp>
      <p:pic>
        <p:nvPicPr>
          <p:cNvPr id="7" name="Image 1" descr="/sessions/busy-trusting-darwin/mnt/outputs/pptx_build/icons/checkCircle_1E276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189" y="2031797"/>
            <a:ext cx="270662" cy="27066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051560" y="1984248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Texte bruité (fautes, langage familier)</a:t>
            </a:r>
            <a:endParaRPr lang="en-US" sz="1300" dirty="0"/>
          </a:p>
        </p:txBody>
      </p:sp>
      <p:sp>
        <p:nvSpPr>
          <p:cNvPr id="9" name="Shape 5"/>
          <p:cNvSpPr/>
          <p:nvPr/>
        </p:nvSpPr>
        <p:spPr>
          <a:xfrm>
            <a:off x="548640" y="2551176"/>
            <a:ext cx="365760" cy="365760"/>
          </a:xfrm>
          <a:prstGeom prst="ellipse">
            <a:avLst/>
          </a:prstGeom>
          <a:solidFill>
            <a:srgbClr val="F4F6FC"/>
          </a:solidFill>
          <a:ln/>
        </p:spPr>
      </p:sp>
      <p:pic>
        <p:nvPicPr>
          <p:cNvPr id="10" name="Image 2" descr="/sessions/busy-trusting-darwin/mnt/outputs/pptx_build/icons/checkCircle_1E276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189" y="2598725"/>
            <a:ext cx="270662" cy="270662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051560" y="2551176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Chiffré simple / complexe</a:t>
            </a:r>
            <a:endParaRPr lang="en-US" sz="1300" dirty="0"/>
          </a:p>
        </p:txBody>
      </p:sp>
      <p:sp>
        <p:nvSpPr>
          <p:cNvPr id="12" name="Shape 7"/>
          <p:cNvSpPr/>
          <p:nvPr/>
        </p:nvSpPr>
        <p:spPr>
          <a:xfrm>
            <a:off x="548640" y="3118104"/>
            <a:ext cx="365760" cy="365760"/>
          </a:xfrm>
          <a:prstGeom prst="ellipse">
            <a:avLst/>
          </a:prstGeom>
          <a:solidFill>
            <a:srgbClr val="F4F6FC"/>
          </a:solidFill>
          <a:ln/>
        </p:spPr>
      </p:sp>
      <p:pic>
        <p:nvPicPr>
          <p:cNvPr id="13" name="Image 3" descr="/sessions/busy-trusting-darwin/mnt/outputs/pptx_build/icons/checkCircle_1E276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6189" y="3165653"/>
            <a:ext cx="270662" cy="270662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051560" y="3118104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Mixte texte + chiffre</a:t>
            </a:r>
            <a:endParaRPr lang="en-US" sz="1300" dirty="0"/>
          </a:p>
        </p:txBody>
      </p:sp>
      <p:sp>
        <p:nvSpPr>
          <p:cNvPr id="15" name="Shape 9"/>
          <p:cNvSpPr/>
          <p:nvPr/>
        </p:nvSpPr>
        <p:spPr>
          <a:xfrm>
            <a:off x="548640" y="3685032"/>
            <a:ext cx="365760" cy="365760"/>
          </a:xfrm>
          <a:prstGeom prst="ellipse">
            <a:avLst/>
          </a:prstGeom>
          <a:solidFill>
            <a:srgbClr val="F4F6FC"/>
          </a:solidFill>
          <a:ln/>
        </p:spPr>
      </p:sp>
      <p:pic>
        <p:nvPicPr>
          <p:cNvPr id="16" name="Image 4" descr="/sessions/busy-trusting-darwin/mnt/outputs/pptx_build/icons/checkCircle_1E276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6189" y="3732581"/>
            <a:ext cx="270662" cy="270662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1051560" y="3685032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Hors périmètre (doit être décliné)</a:t>
            </a:r>
            <a:endParaRPr lang="en-US" sz="1300" dirty="0"/>
          </a:p>
        </p:txBody>
      </p:sp>
      <p:sp>
        <p:nvSpPr>
          <p:cNvPr id="18" name="Text 11"/>
          <p:cNvSpPr/>
          <p:nvPr/>
        </p:nvSpPr>
        <p:spPr>
          <a:xfrm>
            <a:off x="548640" y="4297680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catégories couvertes par les 13 questions de test (tests/test_questions.py)</a:t>
            </a:r>
            <a:endParaRPr lang="en-US" sz="1100" dirty="0"/>
          </a:p>
        </p:txBody>
      </p:sp>
      <p:sp>
        <p:nvSpPr>
          <p:cNvPr id="19" name="Shape 12"/>
          <p:cNvSpPr/>
          <p:nvPr/>
        </p:nvSpPr>
        <p:spPr>
          <a:xfrm>
            <a:off x="7680960" y="1417320"/>
            <a:ext cx="3931920" cy="1417320"/>
          </a:xfrm>
          <a:prstGeom prst="roundRect">
            <a:avLst>
              <a:gd name="adj" fmla="val 6452"/>
            </a:avLst>
          </a:prstGeom>
          <a:solidFill>
            <a:srgbClr val="1E2761"/>
          </a:solidFill>
          <a:ln/>
        </p:spPr>
      </p:sp>
      <p:sp>
        <p:nvSpPr>
          <p:cNvPr id="20" name="Text 13"/>
          <p:cNvSpPr/>
          <p:nvPr/>
        </p:nvSpPr>
        <p:spPr>
          <a:xfrm>
            <a:off x="7680960" y="1508760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E87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4600" dirty="0"/>
          </a:p>
        </p:txBody>
      </p:sp>
      <p:sp>
        <p:nvSpPr>
          <p:cNvPr id="21" name="Text 14"/>
          <p:cNvSpPr/>
          <p:nvPr/>
        </p:nvSpPr>
        <p:spPr>
          <a:xfrm>
            <a:off x="7680960" y="228600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de test, 7 catégories</a:t>
            </a:r>
            <a:endParaRPr lang="en-US" sz="1250" dirty="0"/>
          </a:p>
        </p:txBody>
      </p:sp>
      <p:sp>
        <p:nvSpPr>
          <p:cNvPr id="22" name="Shape 15"/>
          <p:cNvSpPr/>
          <p:nvPr/>
        </p:nvSpPr>
        <p:spPr>
          <a:xfrm>
            <a:off x="7680960" y="3063240"/>
            <a:ext cx="3931920" cy="1417320"/>
          </a:xfrm>
          <a:prstGeom prst="roundRect">
            <a:avLst>
              <a:gd name="adj" fmla="val 6452"/>
            </a:avLst>
          </a:prstGeom>
          <a:solidFill>
            <a:srgbClr val="F4F6FC"/>
          </a:solidFill>
          <a:ln/>
        </p:spPr>
      </p:sp>
      <p:sp>
        <p:nvSpPr>
          <p:cNvPr id="23" name="Text 16"/>
          <p:cNvSpPr/>
          <p:nvPr/>
        </p:nvSpPr>
        <p:spPr>
          <a:xfrm>
            <a:off x="7680960" y="3154680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4600" dirty="0"/>
          </a:p>
        </p:txBody>
      </p:sp>
      <p:sp>
        <p:nvSpPr>
          <p:cNvPr id="24" name="Text 17"/>
          <p:cNvSpPr/>
          <p:nvPr/>
        </p:nvSpPr>
        <p:spPr>
          <a:xfrm>
            <a:off x="7680960" y="393192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métriques RAGAS</a:t>
            </a:r>
            <a:endParaRPr lang="en-US" sz="1250" dirty="0"/>
          </a:p>
        </p:txBody>
      </p:sp>
      <p:sp>
        <p:nvSpPr>
          <p:cNvPr id="25" name="Text 18"/>
          <p:cNvSpPr/>
          <p:nvPr/>
        </p:nvSpPr>
        <p:spPr>
          <a:xfrm>
            <a:off x="7680960" y="466344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faithfulness • answer_relevancy • context_precision • context_recall</a:t>
            </a:r>
            <a:endParaRPr lang="en-US" sz="1050" dirty="0"/>
          </a:p>
        </p:txBody>
      </p:sp>
      <p:sp>
        <p:nvSpPr>
          <p:cNvPr id="26" name="Text 19"/>
          <p:cNvSpPr/>
          <p:nvPr/>
        </p:nvSpPr>
        <p:spPr>
          <a:xfrm>
            <a:off x="7680960" y="525780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Juge : Mistral (ChatMistralAI) — pas OpenAI, adapté spécifiquement au projet</a:t>
            </a:r>
            <a:endParaRPr lang="en-US" sz="1050" dirty="0"/>
          </a:p>
        </p:txBody>
      </p:sp>
      <p:sp>
        <p:nvSpPr>
          <p:cNvPr id="27" name="Text 20"/>
          <p:cNvSpPr/>
          <p:nvPr/>
        </p:nvSpPr>
        <p:spPr>
          <a:xfrm>
            <a:off x="548640" y="5943600"/>
            <a:ext cx="6583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Deux questions volontairement irréalisables (pas de données match par match) pour vérifier que le système sait dire « je ne sais pas » plutôt que d’halluciner.</a:t>
            </a:r>
            <a:endParaRPr lang="en-US" sz="1150" dirty="0"/>
          </a:p>
        </p:txBody>
      </p:sp>
      <p:sp>
        <p:nvSpPr>
          <p:cNvPr id="28" name="Text 21"/>
          <p:cNvSpPr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SportSee — NBA Analyst AI</a:t>
            </a:r>
            <a:endParaRPr lang="en-US" sz="900" dirty="0"/>
          </a:p>
        </p:txBody>
      </p:sp>
      <p:sp>
        <p:nvSpPr>
          <p:cNvPr id="29" name="Text 22"/>
          <p:cNvSpPr/>
          <p:nvPr/>
        </p:nvSpPr>
        <p:spPr>
          <a:xfrm>
            <a:off x="1133856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Résultats chiffrés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Comparaison finale before / after — 13 questions appariées, sans donnée manquante</a:t>
            </a:r>
            <a:endParaRPr lang="en-US" sz="125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463040"/>
          <a:ext cx="11091672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715000"/>
            <a:ext cx="11091672" cy="685800"/>
          </a:xfrm>
          <a:prstGeom prst="roundRect">
            <a:avLst>
              <a:gd name="adj" fmla="val 10667"/>
            </a:avLst>
          </a:prstGeom>
          <a:solidFill>
            <a:srgbClr val="F4F6FC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571500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SQL Tool améliore 3 métriques sur 4 : </a:t>
            </a:r>
            <a:pPr indent="0" marL="0">
              <a:buNone/>
            </a:pPr>
            <a:r>
              <a:rPr lang="en-US" sz="11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answer_relevancy +0,286, context_recall +0,231, context_precision +0,129. La faithfulness recule (–0,194) — expliqué diapo suivante.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SportSee — NBA Analyst AI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33856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qui s’améliore concrètement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5349240" cy="4480560"/>
          </a:xfrm>
          <a:prstGeom prst="roundRect">
            <a:avLst>
              <a:gd name="adj" fmla="val 2041"/>
            </a:avLst>
          </a:prstGeom>
          <a:solidFill>
            <a:srgbClr val="FBEEEA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164592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" name="Image 0" descr="/sessions/busy-trusting-darwin/mnt/outputs/pptx_build/icons/timesCircle_E8702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8340" y="1711300"/>
            <a:ext cx="372161" cy="372161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63040" y="169164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3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Avant — une hallucination (T02)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868680" y="2331720"/>
            <a:ext cx="4709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Que disent les fans du duo de jeunes ailiers évoqué en playoffs ? »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68680" y="306324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Réponse générée : </a:t>
            </a:r>
            <a:pPr indent="0" marL="0">
              <a:buNone/>
            </a:pPr>
            <a:r>
              <a:rPr lang="en-US" sz="1250" i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Anthony Edwards et Jaden McDaniels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868680" y="356616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Réalité du thread : </a:t>
            </a:r>
            <a:pPr indent="0" marL="0">
              <a:buNone/>
            </a:pPr>
            <a:r>
              <a:rPr lang="en-US" sz="1250" i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Banchero et Franz Wagner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868680" y="4251960"/>
            <a:ext cx="4709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Mauvais chunk récupéré, noyé dans un thread sans rapport (context_recall = 0)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291072" y="1371600"/>
            <a:ext cx="5349240" cy="4480560"/>
          </a:xfrm>
          <a:prstGeom prst="roundRect">
            <a:avLst>
              <a:gd name="adj" fmla="val 2041"/>
            </a:avLst>
          </a:prstGeom>
          <a:solidFill>
            <a:srgbClr val="EAF3EE"/>
          </a:solidFill>
          <a:ln/>
        </p:spPr>
      </p:sp>
      <p:sp>
        <p:nvSpPr>
          <p:cNvPr id="12" name="Shape 9"/>
          <p:cNvSpPr/>
          <p:nvPr/>
        </p:nvSpPr>
        <p:spPr>
          <a:xfrm>
            <a:off x="6565392" y="164592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3" name="Image 1" descr="/sessions/busy-trusting-darwin/mnt/outputs/pptx_build/icons/checkCircle_2C7A4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0772" y="1711300"/>
            <a:ext cx="372161" cy="372161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05472" y="169164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C7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Après — une réponse exacte (T10)</a:t>
            </a:r>
            <a:endParaRPr lang="en-US" sz="1450" dirty="0"/>
          </a:p>
        </p:txBody>
      </p:sp>
      <p:sp>
        <p:nvSpPr>
          <p:cNvPr id="15" name="Text 11"/>
          <p:cNvSpPr/>
          <p:nvPr/>
        </p:nvSpPr>
        <p:spPr>
          <a:xfrm>
            <a:off x="6611112" y="2331720"/>
            <a:ext cx="4709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Top 3 passeurs de la saison ? »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6611112" y="3063240"/>
            <a:ext cx="4709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Réponse : </a:t>
            </a:r>
            <a:pPr indent="0" marL="0">
              <a:buNone/>
            </a:pPr>
            <a:r>
              <a:rPr lang="en-US" sz="1250" i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Trae Young (11,6), Nikola Jokić (10,2), Tyrese Haliburton (9,2)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6611112" y="4251960"/>
            <a:ext cx="4709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Donnée impossible à obtenir avec le texte seul — issue directement du SQL Tool, vérifiable et traçable.</a:t>
            </a:r>
            <a:endParaRPr lang="en-US" sz="1150" dirty="0"/>
          </a:p>
        </p:txBody>
      </p:sp>
      <p:sp>
        <p:nvSpPr>
          <p:cNvPr id="18" name="Text 14"/>
          <p:cNvSpPr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SportSee — NBA Analyst AI</a:t>
            </a:r>
            <a:endParaRPr lang="en-US" sz="900" dirty="0"/>
          </a:p>
        </p:txBody>
      </p:sp>
      <p:sp>
        <p:nvSpPr>
          <p:cNvPr id="19" name="Text 15"/>
          <p:cNvSpPr/>
          <p:nvPr/>
        </p:nvSpPr>
        <p:spPr>
          <a:xfrm>
            <a:off x="1133856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baisse de faithfulness expliquée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457200" cy="457200"/>
          </a:xfrm>
          <a:prstGeom prst="ellipse">
            <a:avLst/>
          </a:prstGeom>
          <a:solidFill>
            <a:srgbClr val="FDECEA"/>
          </a:solidFill>
          <a:ln/>
        </p:spPr>
      </p:sp>
      <p:pic>
        <p:nvPicPr>
          <p:cNvPr id="4" name="Image 0" descr="/sessions/busy-trusting-darwin/mnt/outputs/pptx_build/icons/warning_C0392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8076" y="1202436"/>
            <a:ext cx="338328" cy="33832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43000" y="11430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une régression de qualité — une limite de la métrique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11091672" cy="960120"/>
          </a:xfrm>
          <a:prstGeom prst="roundRect">
            <a:avLst>
              <a:gd name="adj" fmla="val 7619"/>
            </a:avLst>
          </a:prstGeom>
          <a:solidFill>
            <a:srgbClr val="F4F6FC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1901952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T08 / T09 — cas volontairement irréalisables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777240" y="2231136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système répond correctement « donnée non disponible » (comportement attendu). Mais RAGAS note faithfulness = 0 : un refus ne « cite » pas de contexte à évaluer.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48640" y="2926080"/>
            <a:ext cx="11091672" cy="960120"/>
          </a:xfrm>
          <a:prstGeom prst="roundRect">
            <a:avLst>
              <a:gd name="adj" fmla="val 7619"/>
            </a:avLst>
          </a:prstGeom>
          <a:solidFill>
            <a:srgbClr val="F4F6FC"/>
          </a:solidFill>
          <a:ln/>
        </p:spPr>
      </p:sp>
      <p:sp>
        <p:nvSpPr>
          <p:cNvPr id="10" name="Text 7"/>
          <p:cNvSpPr/>
          <p:nvPr/>
        </p:nvSpPr>
        <p:spPr>
          <a:xfrm>
            <a:off x="777240" y="2999232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T06 — clarification demandée plutôt qu’un joueur inventé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777240" y="3328416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SQL Tool demande désormais une clarification au lieu d’inventer un joueur non précisé — ce comportement correct fait pourtant chuter le score (1,0 → 0,75).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48640" y="4023360"/>
            <a:ext cx="11091672" cy="960120"/>
          </a:xfrm>
          <a:prstGeom prst="roundRect">
            <a:avLst>
              <a:gd name="adj" fmla="val 7619"/>
            </a:avLst>
          </a:prstGeom>
          <a:solidFill>
            <a:srgbClr val="F4F6FC"/>
          </a:solidFill>
          <a:ln/>
        </p:spPr>
      </p:sp>
      <p:sp>
        <p:nvSpPr>
          <p:cNvPr id="13" name="Text 10"/>
          <p:cNvSpPr/>
          <p:nvPr/>
        </p:nvSpPr>
        <p:spPr>
          <a:xfrm>
            <a:off x="777240" y="4096512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T07 — réponse chiffrée courte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777240" y="4425696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Réponse exacte et sourcée, mais faithfulness instable d’un run à l’autre selon le juge LLM (non déterministe).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48640" y="5212080"/>
            <a:ext cx="11091672" cy="777240"/>
          </a:xfrm>
          <a:prstGeom prst="roundRect">
            <a:avLst>
              <a:gd name="adj" fmla="val 9412"/>
            </a:avLst>
          </a:prstGeom>
          <a:solidFill>
            <a:srgbClr val="1E2761"/>
          </a:solidFill>
          <a:ln/>
        </p:spPr>
      </p:sp>
      <p:sp>
        <p:nvSpPr>
          <p:cNvPr id="16" name="Text 13"/>
          <p:cNvSpPr/>
          <p:nvPr/>
        </p:nvSpPr>
        <p:spPr>
          <a:xfrm>
            <a:off x="822960" y="521208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comportement métier s’améliore à chaque fois ; c’est l’outil de mesure qui n’est pas conçu pour évaluer des refus/clarifications.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SportSee — NBA Analyst AI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1133856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Fiabilité du système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Garde-fous, tests, observabilité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520440" cy="4480560"/>
          </a:xfrm>
          <a:prstGeom prst="roundRect">
            <a:avLst>
              <a:gd name="adj" fmla="val 2597"/>
            </a:avLst>
          </a:prstGeom>
          <a:solidFill>
            <a:srgbClr val="F4F6FC"/>
          </a:solidFill>
          <a:ln/>
        </p:spPr>
      </p:sp>
      <p:sp>
        <p:nvSpPr>
          <p:cNvPr id="5" name="Shape 3"/>
          <p:cNvSpPr/>
          <p:nvPr/>
        </p:nvSpPr>
        <p:spPr>
          <a:xfrm>
            <a:off x="1897380" y="1874520"/>
            <a:ext cx="822960" cy="82296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6" name="Image 0" descr="/sessions/busy-trusting-darwin/mnt/outputs/pptx_build/icons/shield_FFFFF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04365" y="1981505"/>
            <a:ext cx="608990" cy="60899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31520" y="288036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Sécurité du SQL Tool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822960" y="3557016"/>
            <a:ext cx="73152" cy="73152"/>
          </a:xfrm>
          <a:prstGeom prst="ellipse">
            <a:avLst/>
          </a:prstGeom>
          <a:solidFill>
            <a:srgbClr val="E8702A"/>
          </a:solidFill>
          <a:ln/>
        </p:spPr>
      </p:sp>
      <p:sp>
        <p:nvSpPr>
          <p:cNvPr id="9" name="Text 6"/>
          <p:cNvSpPr/>
          <p:nvPr/>
        </p:nvSpPr>
        <p:spPr>
          <a:xfrm>
            <a:off x="1005840" y="3474720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Requêtes SELECT uniquement, rejet DML/DDL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822960" y="4160520"/>
            <a:ext cx="73152" cy="73152"/>
          </a:xfrm>
          <a:prstGeom prst="ellipse">
            <a:avLst/>
          </a:prstGeom>
          <a:solidFill>
            <a:srgbClr val="E8702A"/>
          </a:solidFill>
          <a:ln/>
        </p:spPr>
      </p:sp>
      <p:sp>
        <p:nvSpPr>
          <p:cNvPr id="11" name="Text 8"/>
          <p:cNvSpPr/>
          <p:nvPr/>
        </p:nvSpPr>
        <p:spPr>
          <a:xfrm>
            <a:off x="1005840" y="4078224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 de lignes, détection d’injection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822960" y="4764024"/>
            <a:ext cx="73152" cy="73152"/>
          </a:xfrm>
          <a:prstGeom prst="ellipse">
            <a:avLst/>
          </a:prstGeom>
          <a:solidFill>
            <a:srgbClr val="E8702A"/>
          </a:solidFill>
          <a:ln/>
        </p:spPr>
      </p:sp>
      <p:sp>
        <p:nvSpPr>
          <p:cNvPr id="13" name="Text 10"/>
          <p:cNvSpPr/>
          <p:nvPr/>
        </p:nvSpPr>
        <p:spPr>
          <a:xfrm>
            <a:off x="1005840" y="4681728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Mécanisme NO_DATA plutôt qu’une hallucination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822960" y="5367528"/>
            <a:ext cx="73152" cy="73152"/>
          </a:xfrm>
          <a:prstGeom prst="ellipse">
            <a:avLst/>
          </a:prstGeom>
          <a:solidFill>
            <a:srgbClr val="E8702A"/>
          </a:solidFill>
          <a:ln/>
        </p:spPr>
      </p:sp>
      <p:sp>
        <p:nvSpPr>
          <p:cNvPr id="15" name="Text 12"/>
          <p:cNvSpPr/>
          <p:nvPr/>
        </p:nvSpPr>
        <p:spPr>
          <a:xfrm>
            <a:off x="1005840" y="5285232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Valeurs citées vérifiées contre la question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4343400" y="1600200"/>
            <a:ext cx="3520440" cy="4480560"/>
          </a:xfrm>
          <a:prstGeom prst="roundRect">
            <a:avLst>
              <a:gd name="adj" fmla="val 2597"/>
            </a:avLst>
          </a:prstGeom>
          <a:solidFill>
            <a:srgbClr val="F4F6FC"/>
          </a:solidFill>
          <a:ln/>
        </p:spPr>
      </p:sp>
      <p:sp>
        <p:nvSpPr>
          <p:cNvPr id="17" name="Shape 14"/>
          <p:cNvSpPr/>
          <p:nvPr/>
        </p:nvSpPr>
        <p:spPr>
          <a:xfrm>
            <a:off x="5692140" y="1874520"/>
            <a:ext cx="822960" cy="82296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8" name="Image 1" descr="/sessions/busy-trusting-darwin/mnt/outputs/pptx_build/icons/checkCircle_FFFFF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9125" y="1981505"/>
            <a:ext cx="608990" cy="60899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4526280" y="288036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 tests unitaires (pytest)</a:t>
            </a:r>
            <a:endParaRPr lang="en-US" sz="1350" dirty="0"/>
          </a:p>
        </p:txBody>
      </p:sp>
      <p:sp>
        <p:nvSpPr>
          <p:cNvPr id="20" name="Shape 16"/>
          <p:cNvSpPr/>
          <p:nvPr/>
        </p:nvSpPr>
        <p:spPr>
          <a:xfrm>
            <a:off x="4617720" y="3557016"/>
            <a:ext cx="73152" cy="73152"/>
          </a:xfrm>
          <a:prstGeom prst="ellipse">
            <a:avLst/>
          </a:prstGeom>
          <a:solidFill>
            <a:srgbClr val="E8702A"/>
          </a:solidFill>
          <a:ln/>
        </p:spPr>
      </p:sp>
      <p:sp>
        <p:nvSpPr>
          <p:cNvPr id="21" name="Text 17"/>
          <p:cNvSpPr/>
          <p:nvPr/>
        </p:nvSpPr>
        <p:spPr>
          <a:xfrm>
            <a:off x="4800600" y="3474720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Routeur, SQL Tool, PlotTool, validation Pydantic</a:t>
            </a:r>
            <a:endParaRPr lang="en-US" sz="1050" dirty="0"/>
          </a:p>
        </p:txBody>
      </p:sp>
      <p:sp>
        <p:nvSpPr>
          <p:cNvPr id="22" name="Shape 18"/>
          <p:cNvSpPr/>
          <p:nvPr/>
        </p:nvSpPr>
        <p:spPr>
          <a:xfrm>
            <a:off x="4617720" y="4160520"/>
            <a:ext cx="73152" cy="73152"/>
          </a:xfrm>
          <a:prstGeom prst="ellipse">
            <a:avLst/>
          </a:prstGeom>
          <a:solidFill>
            <a:srgbClr val="E8702A"/>
          </a:solidFill>
          <a:ln/>
        </p:spPr>
      </p:sp>
      <p:sp>
        <p:nvSpPr>
          <p:cNvPr id="23" name="Text 19"/>
          <p:cNvSpPr/>
          <p:nvPr/>
        </p:nvSpPr>
        <p:spPr>
          <a:xfrm>
            <a:off x="4800600" y="4078224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verts</a:t>
            </a:r>
            <a:endParaRPr lang="en-US" sz="1050" dirty="0"/>
          </a:p>
        </p:txBody>
      </p:sp>
      <p:sp>
        <p:nvSpPr>
          <p:cNvPr id="24" name="Shape 20"/>
          <p:cNvSpPr/>
          <p:nvPr/>
        </p:nvSpPr>
        <p:spPr>
          <a:xfrm>
            <a:off x="4617720" y="4764024"/>
            <a:ext cx="73152" cy="73152"/>
          </a:xfrm>
          <a:prstGeom prst="ellipse">
            <a:avLst/>
          </a:prstGeom>
          <a:solidFill>
            <a:srgbClr val="E8702A"/>
          </a:solidFill>
          <a:ln/>
        </p:spPr>
      </p:sp>
      <p:sp>
        <p:nvSpPr>
          <p:cNvPr id="25" name="Text 21"/>
          <p:cNvSpPr/>
          <p:nvPr/>
        </p:nvSpPr>
        <p:spPr>
          <a:xfrm>
            <a:off x="4800600" y="4681728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Sans appel API ni base de données</a:t>
            </a:r>
            <a:endParaRPr lang="en-US" sz="1050" dirty="0"/>
          </a:p>
        </p:txBody>
      </p:sp>
      <p:sp>
        <p:nvSpPr>
          <p:cNvPr id="26" name="Shape 22"/>
          <p:cNvSpPr/>
          <p:nvPr/>
        </p:nvSpPr>
        <p:spPr>
          <a:xfrm>
            <a:off x="4617720" y="5367528"/>
            <a:ext cx="73152" cy="73152"/>
          </a:xfrm>
          <a:prstGeom prst="ellipse">
            <a:avLst/>
          </a:prstGeom>
          <a:solidFill>
            <a:srgbClr val="E8702A"/>
          </a:solidFill>
          <a:ln/>
        </p:spPr>
      </p:sp>
      <p:sp>
        <p:nvSpPr>
          <p:cNvPr id="27" name="Text 23"/>
          <p:cNvSpPr/>
          <p:nvPr/>
        </p:nvSpPr>
        <p:spPr>
          <a:xfrm>
            <a:off x="4800600" y="5285232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Exécutables en quelques secondes</a:t>
            </a:r>
            <a:endParaRPr lang="en-US" sz="1050" dirty="0"/>
          </a:p>
        </p:txBody>
      </p:sp>
      <p:sp>
        <p:nvSpPr>
          <p:cNvPr id="28" name="Shape 24"/>
          <p:cNvSpPr/>
          <p:nvPr/>
        </p:nvSpPr>
        <p:spPr>
          <a:xfrm>
            <a:off x="8138160" y="1600200"/>
            <a:ext cx="3520440" cy="4480560"/>
          </a:xfrm>
          <a:prstGeom prst="roundRect">
            <a:avLst>
              <a:gd name="adj" fmla="val 2597"/>
            </a:avLst>
          </a:prstGeom>
          <a:solidFill>
            <a:srgbClr val="F4F6FC"/>
          </a:solidFill>
          <a:ln/>
        </p:spPr>
      </p:sp>
      <p:sp>
        <p:nvSpPr>
          <p:cNvPr id="29" name="Shape 25"/>
          <p:cNvSpPr/>
          <p:nvPr/>
        </p:nvSpPr>
        <p:spPr>
          <a:xfrm>
            <a:off x="9486900" y="1874520"/>
            <a:ext cx="822960" cy="82296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0" name="Image 2" descr="/sessions/busy-trusting-darwin/mnt/outputs/pptx_build/icons/radar_FFFFFF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93885" y="1981505"/>
            <a:ext cx="608990" cy="608990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8321040" y="288036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Observabilité continue</a:t>
            </a:r>
            <a:endParaRPr lang="en-US" sz="1350" dirty="0"/>
          </a:p>
        </p:txBody>
      </p:sp>
      <p:sp>
        <p:nvSpPr>
          <p:cNvPr id="32" name="Shape 27"/>
          <p:cNvSpPr/>
          <p:nvPr/>
        </p:nvSpPr>
        <p:spPr>
          <a:xfrm>
            <a:off x="8412480" y="3557016"/>
            <a:ext cx="73152" cy="73152"/>
          </a:xfrm>
          <a:prstGeom prst="ellipse">
            <a:avLst/>
          </a:prstGeom>
          <a:solidFill>
            <a:srgbClr val="E8702A"/>
          </a:solidFill>
          <a:ln/>
        </p:spPr>
      </p:sp>
      <p:sp>
        <p:nvSpPr>
          <p:cNvPr id="33" name="Text 28"/>
          <p:cNvSpPr/>
          <p:nvPr/>
        </p:nvSpPr>
        <p:spPr>
          <a:xfrm>
            <a:off x="8595360" y="3474720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Pydantic Logfire sur chaque étape</a:t>
            </a:r>
            <a:endParaRPr lang="en-US" sz="1050" dirty="0"/>
          </a:p>
        </p:txBody>
      </p:sp>
      <p:sp>
        <p:nvSpPr>
          <p:cNvPr id="34" name="Shape 29"/>
          <p:cNvSpPr/>
          <p:nvPr/>
        </p:nvSpPr>
        <p:spPr>
          <a:xfrm>
            <a:off x="8412480" y="4160520"/>
            <a:ext cx="73152" cy="73152"/>
          </a:xfrm>
          <a:prstGeom prst="ellipse">
            <a:avLst/>
          </a:prstGeom>
          <a:solidFill>
            <a:srgbClr val="E8702A"/>
          </a:solidFill>
          <a:ln/>
        </p:spPr>
      </p:sp>
      <p:sp>
        <p:nvSpPr>
          <p:cNvPr id="35" name="Text 30"/>
          <p:cNvSpPr/>
          <p:nvPr/>
        </p:nvSpPr>
        <p:spPr>
          <a:xfrm>
            <a:off x="8595360" y="4078224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Recherche vectorielle, appel SQL, génération</a:t>
            </a:r>
            <a:endParaRPr lang="en-US" sz="1050" dirty="0"/>
          </a:p>
        </p:txBody>
      </p:sp>
      <p:sp>
        <p:nvSpPr>
          <p:cNvPr id="36" name="Shape 31"/>
          <p:cNvSpPr/>
          <p:nvPr/>
        </p:nvSpPr>
        <p:spPr>
          <a:xfrm>
            <a:off x="8412480" y="4764024"/>
            <a:ext cx="73152" cy="73152"/>
          </a:xfrm>
          <a:prstGeom prst="ellipse">
            <a:avLst/>
          </a:prstGeom>
          <a:solidFill>
            <a:srgbClr val="E8702A"/>
          </a:solidFill>
          <a:ln/>
        </p:spPr>
      </p:sp>
      <p:sp>
        <p:nvSpPr>
          <p:cNvPr id="37" name="Text 32"/>
          <p:cNvSpPr/>
          <p:nvPr/>
        </p:nvSpPr>
        <p:spPr>
          <a:xfrm>
            <a:off x="8595360" y="4681728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consultable en temps réel</a:t>
            </a:r>
            <a:endParaRPr lang="en-US" sz="1050" dirty="0"/>
          </a:p>
        </p:txBody>
      </p:sp>
      <p:sp>
        <p:nvSpPr>
          <p:cNvPr id="38" name="Shape 33"/>
          <p:cNvSpPr/>
          <p:nvPr/>
        </p:nvSpPr>
        <p:spPr>
          <a:xfrm>
            <a:off x="8412480" y="5367528"/>
            <a:ext cx="73152" cy="73152"/>
          </a:xfrm>
          <a:prstGeom prst="ellipse">
            <a:avLst/>
          </a:prstGeom>
          <a:solidFill>
            <a:srgbClr val="E8702A"/>
          </a:solidFill>
          <a:ln/>
        </p:spPr>
      </p:sp>
      <p:sp>
        <p:nvSpPr>
          <p:cNvPr id="39" name="Text 34"/>
          <p:cNvSpPr/>
          <p:nvPr/>
        </p:nvSpPr>
        <p:spPr>
          <a:xfrm>
            <a:off x="8595360" y="5285232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Détection en production, pas qu’à l’évaluation</a:t>
            </a:r>
            <a:endParaRPr lang="en-US" sz="1050" dirty="0"/>
          </a:p>
        </p:txBody>
      </p:sp>
      <p:sp>
        <p:nvSpPr>
          <p:cNvPr id="40" name="Text 35"/>
          <p:cNvSpPr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SportSee — NBA Analyst AI</a:t>
            </a:r>
            <a:endParaRPr lang="en-US" sz="900" dirty="0"/>
          </a:p>
        </p:txBody>
      </p:sp>
      <p:sp>
        <p:nvSpPr>
          <p:cNvPr id="41" name="Text 36"/>
          <p:cNvSpPr/>
          <p:nvPr/>
        </p:nvSpPr>
        <p:spPr>
          <a:xfrm>
            <a:off x="1133856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Observabilité : Pydantic Logfire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étape du pipeline tracée en continu, pas seulement au moment de l’évaluation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4F6FC"/>
          </a:solidFill>
          <a:ln w="19050">
            <a:solidFill>
              <a:srgbClr val="CADCFC"/>
            </a:solidFill>
            <a:prstDash val="dash"/>
          </a:ln>
        </p:spPr>
      </p:sp>
      <p:sp>
        <p:nvSpPr>
          <p:cNvPr id="5" name="Shape 3"/>
          <p:cNvSpPr/>
          <p:nvPr/>
        </p:nvSpPr>
        <p:spPr>
          <a:xfrm>
            <a:off x="5682996" y="2743200"/>
            <a:ext cx="822960" cy="82296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/sessions/busy-trusting-darwin/mnt/outputs/pptx_build/icons/eye_1E276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89981" y="2850185"/>
            <a:ext cx="608990" cy="60899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05840" y="3794760"/>
            <a:ext cx="10177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d’écran du dashboard Logfire à insérer ici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1005840" y="4297680"/>
            <a:ext cx="10177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(remplacer ce bloc par une capture réelle du projet Logfire — ou faire une démonstration live pendant la soutenance)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48640" y="5486400"/>
            <a:ext cx="11091672" cy="777240"/>
          </a:xfrm>
          <a:prstGeom prst="roundRect">
            <a:avLst>
              <a:gd name="adj" fmla="val 9412"/>
            </a:avLst>
          </a:prstGeom>
          <a:solidFill>
            <a:srgbClr val="1E2761"/>
          </a:solidFill>
          <a:ln/>
        </p:spPr>
      </p:sp>
      <p:sp>
        <p:nvSpPr>
          <p:cNvPr id="10" name="Text 7"/>
          <p:cNvSpPr/>
          <p:nvPr/>
        </p:nvSpPr>
        <p:spPr>
          <a:xfrm>
            <a:off x="822960" y="548640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Étapes tracées : recherche vectorielle (FAISS), génération + exécution SQL (LangChain), génération finale (Mistral), erreurs et repli (fallback direct Mistral, garde-fous rejetés).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SportSee — NBA Analyst AI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133856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OCR et visualisation dynamique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Deux composants du système, au même niveau d’exigence que le SQL Tool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349240" cy="4480560"/>
          </a:xfrm>
          <a:prstGeom prst="roundRect">
            <a:avLst>
              <a:gd name="adj" fmla="val 2041"/>
            </a:avLst>
          </a:prstGeom>
          <a:solidFill>
            <a:srgbClr val="F4F6FC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1783080"/>
            <a:ext cx="640080" cy="64008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6" name="Image 0" descr="/sessions/busy-trusting-darwin/mnt/outputs/pptx_build/icons/fileImage_FFFFF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6170" y="1866290"/>
            <a:ext cx="473659" cy="473659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45920" y="1892808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OCR — fallback Nanonets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22960" y="2651760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Fallback automatique quand un PDF n’a pas de couche de texte (rapport scanné).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914400" y="33832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6B72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0,00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914400" y="393192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avant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2697480" y="3566160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2" name="Image 1" descr="/sessions/busy-trusting-darwin/mnt/outputs/pptx_build/icons/arrowRight_E8702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6916" y="3625596"/>
            <a:ext cx="338328" cy="33832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291840" y="338328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87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0,9757</a:t>
            </a:r>
            <a:endParaRPr lang="en-US" sz="3000" dirty="0"/>
          </a:p>
        </p:txBody>
      </p:sp>
      <p:sp>
        <p:nvSpPr>
          <p:cNvPr id="14" name="Text 10"/>
          <p:cNvSpPr/>
          <p:nvPr/>
        </p:nvSpPr>
        <p:spPr>
          <a:xfrm>
            <a:off x="3291840" y="393192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après (similarité)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822960" y="4480560"/>
            <a:ext cx="4800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413 caractères restitués sur un document de test synthétique reproductible (evaluate_ocr.py) — amélioration de +0,98.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822960" y="534924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Sans clé API : désactivation propre, aucun crash.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6291072" y="1508760"/>
            <a:ext cx="5349240" cy="4480560"/>
          </a:xfrm>
          <a:prstGeom prst="roundRect">
            <a:avLst>
              <a:gd name="adj" fmla="val 2041"/>
            </a:avLst>
          </a:prstGeom>
          <a:solidFill>
            <a:srgbClr val="F4F6FC"/>
          </a:solidFill>
          <a:ln/>
        </p:spPr>
      </p:sp>
      <p:sp>
        <p:nvSpPr>
          <p:cNvPr id="18" name="Shape 14"/>
          <p:cNvSpPr/>
          <p:nvPr/>
        </p:nvSpPr>
        <p:spPr>
          <a:xfrm>
            <a:off x="6565392" y="1783080"/>
            <a:ext cx="640080" cy="64008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9" name="Image 2" descr="/sessions/busy-trusting-darwin/mnt/outputs/pptx_build/icons/chartPie_FFFFFF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602" y="1866290"/>
            <a:ext cx="473659" cy="473659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7388352" y="1892808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PlotTool — graphiques dynamiques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6565392" y="2651760"/>
            <a:ext cx="4800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chatbot produit un graphique (barres / courbe / camembert) sur demande explicite (« montre un graphique de… »).</a:t>
            </a:r>
            <a:endParaRPr lang="en-US" sz="1150" dirty="0"/>
          </a:p>
        </p:txBody>
      </p:sp>
      <p:sp>
        <p:nvSpPr>
          <p:cNvPr id="22" name="Shape 17"/>
          <p:cNvSpPr/>
          <p:nvPr/>
        </p:nvSpPr>
        <p:spPr>
          <a:xfrm>
            <a:off x="6565392" y="3566160"/>
            <a:ext cx="4800600" cy="1371600"/>
          </a:xfrm>
          <a:prstGeom prst="roundRect">
            <a:avLst>
              <a:gd name="adj" fmla="val 5333"/>
            </a:avLst>
          </a:prstGeom>
          <a:solidFill>
            <a:srgbClr val="1E2761"/>
          </a:solidFill>
          <a:ln/>
        </p:spPr>
      </p:sp>
      <p:sp>
        <p:nvSpPr>
          <p:cNvPr id="23" name="Text 18"/>
          <p:cNvSpPr/>
          <p:nvPr/>
        </p:nvSpPr>
        <p:spPr>
          <a:xfrm>
            <a:off x="6793992" y="3566160"/>
            <a:ext cx="4343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Garde-fou : le PlotTool ne réutilise QUE les données déjà validées par le SQL Tool — il ne peut pas inventer une valeur.</a:t>
            </a:r>
            <a:endParaRPr lang="en-US" sz="1200" dirty="0"/>
          </a:p>
        </p:txBody>
      </p:sp>
      <p:sp>
        <p:nvSpPr>
          <p:cNvPr id="24" name="Text 19"/>
          <p:cNvSpPr/>
          <p:nvPr/>
        </p:nvSpPr>
        <p:spPr>
          <a:xfrm>
            <a:off x="6565392" y="5166360"/>
            <a:ext cx="4800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Seul le type de graphique est choisi automatiquement (heuristique, sans appel LLM supplémentaire).</a:t>
            </a:r>
            <a:endParaRPr lang="en-US" sz="1050" dirty="0"/>
          </a:p>
        </p:txBody>
      </p:sp>
      <p:sp>
        <p:nvSpPr>
          <p:cNvPr id="25" name="Text 20"/>
          <p:cNvSpPr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SportSee — NBA Analyst AI</a:t>
            </a:r>
            <a:endParaRPr lang="en-US" sz="900" dirty="0"/>
          </a:p>
        </p:txBody>
      </p:sp>
      <p:sp>
        <p:nvSpPr>
          <p:cNvPr id="26" name="Text 21"/>
          <p:cNvSpPr/>
          <p:nvPr/>
        </p:nvSpPr>
        <p:spPr>
          <a:xfrm>
            <a:off x="1133856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Limites et pistes d’amélioration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502920" cy="502920"/>
          </a:xfrm>
          <a:prstGeom prst="ellipse">
            <a:avLst/>
          </a:prstGeom>
          <a:solidFill>
            <a:srgbClr val="F4F6FC"/>
          </a:solidFill>
          <a:ln/>
        </p:spPr>
      </p:sp>
      <p:pic>
        <p:nvPicPr>
          <p:cNvPr id="4" name="Image 0" descr="/sessions/busy-trusting-darwin/mnt/outputs/pptx_build/icons/lightbulb_E8702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4020" y="1802740"/>
            <a:ext cx="372161" cy="372161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234440" y="1737360"/>
            <a:ext cx="10424160" cy="777240"/>
          </a:xfrm>
          <a:prstGeom prst="roundRect">
            <a:avLst>
              <a:gd name="adj" fmla="val 9412"/>
            </a:avLst>
          </a:prstGeom>
          <a:solidFill>
            <a:srgbClr val="F9FAFB"/>
          </a:solidFill>
          <a:ln/>
        </p:spPr>
      </p:sp>
      <p:sp>
        <p:nvSpPr>
          <p:cNvPr id="6" name="Text 3"/>
          <p:cNvSpPr/>
          <p:nvPr/>
        </p:nvSpPr>
        <p:spPr>
          <a:xfrm>
            <a:off x="1463040" y="173736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Échantillon volontairement restreint (13 questions) — à élargir pour des scores statistiquement robustes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48640" y="2697480"/>
            <a:ext cx="502920" cy="502920"/>
          </a:xfrm>
          <a:prstGeom prst="ellipse">
            <a:avLst/>
          </a:prstGeom>
          <a:solidFill>
            <a:srgbClr val="F4F6FC"/>
          </a:solidFill>
          <a:ln/>
        </p:spPr>
      </p:sp>
      <p:pic>
        <p:nvPicPr>
          <p:cNvPr id="8" name="Image 1" descr="/sessions/busy-trusting-darwin/mnt/outputs/pptx_build/icons/lightbulb_E8702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020" y="2762860"/>
            <a:ext cx="372161" cy="372161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1234440" y="2697480"/>
            <a:ext cx="10424160" cy="777240"/>
          </a:xfrm>
          <a:prstGeom prst="roundRect">
            <a:avLst>
              <a:gd name="adj" fmla="val 9412"/>
            </a:avLst>
          </a:prstGeom>
          <a:solidFill>
            <a:srgbClr val="F9FAFB"/>
          </a:solidFill>
          <a:ln/>
        </p:spPr>
      </p:sp>
      <p:sp>
        <p:nvSpPr>
          <p:cNvPr id="10" name="Text 6"/>
          <p:cNvSpPr/>
          <p:nvPr/>
        </p:nvSpPr>
        <p:spPr>
          <a:xfrm>
            <a:off x="1463040" y="269748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Granularité des données NBA limitée à la saison (pas de match par match, pas de domicile/extérieur)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548640" y="3657600"/>
            <a:ext cx="502920" cy="502920"/>
          </a:xfrm>
          <a:prstGeom prst="ellipse">
            <a:avLst/>
          </a:prstGeom>
          <a:solidFill>
            <a:srgbClr val="F4F6FC"/>
          </a:solidFill>
          <a:ln/>
        </p:spPr>
      </p:sp>
      <p:pic>
        <p:nvPicPr>
          <p:cNvPr id="12" name="Image 2" descr="/sessions/busy-trusting-darwin/mnt/outputs/pptx_build/icons/lightbulb_E8702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020" y="3722980"/>
            <a:ext cx="372161" cy="372161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1234440" y="3657600"/>
            <a:ext cx="10424160" cy="777240"/>
          </a:xfrm>
          <a:prstGeom prst="roundRect">
            <a:avLst>
              <a:gd name="adj" fmla="val 9412"/>
            </a:avLst>
          </a:prstGeom>
          <a:solidFill>
            <a:srgbClr val="F9FAFB"/>
          </a:solidFill>
          <a:ln/>
        </p:spPr>
      </p:sp>
      <p:sp>
        <p:nvSpPr>
          <p:cNvPr id="14" name="Text 9"/>
          <p:cNvSpPr/>
          <p:nvPr/>
        </p:nvSpPr>
        <p:spPr>
          <a:xfrm>
            <a:off x="1463040" y="365760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 truths à faire valider par un référent métier (Sarah)</a:t>
            </a:r>
            <a:endParaRPr lang="en-US" sz="1300" dirty="0"/>
          </a:p>
        </p:txBody>
      </p:sp>
      <p:sp>
        <p:nvSpPr>
          <p:cNvPr id="15" name="Shape 10"/>
          <p:cNvSpPr/>
          <p:nvPr/>
        </p:nvSpPr>
        <p:spPr>
          <a:xfrm>
            <a:off x="548640" y="4617720"/>
            <a:ext cx="502920" cy="502920"/>
          </a:xfrm>
          <a:prstGeom prst="ellipse">
            <a:avLst/>
          </a:prstGeom>
          <a:solidFill>
            <a:srgbClr val="F4F6FC"/>
          </a:solidFill>
          <a:ln/>
        </p:spPr>
      </p:sp>
      <p:pic>
        <p:nvPicPr>
          <p:cNvPr id="16" name="Image 3" descr="/sessions/busy-trusting-darwin/mnt/outputs/pptx_build/icons/lightbulb_E8702A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4020" y="4683100"/>
            <a:ext cx="372161" cy="372161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1234440" y="4617720"/>
            <a:ext cx="10424160" cy="777240"/>
          </a:xfrm>
          <a:prstGeom prst="roundRect">
            <a:avLst>
              <a:gd name="adj" fmla="val 9412"/>
            </a:avLst>
          </a:prstGeom>
          <a:solidFill>
            <a:srgbClr val="F9FAFB"/>
          </a:solidFill>
          <a:ln/>
        </p:spPr>
      </p:sp>
      <p:sp>
        <p:nvSpPr>
          <p:cNvPr id="18" name="Text 12"/>
          <p:cNvSpPr/>
          <p:nvPr/>
        </p:nvSpPr>
        <p:spPr>
          <a:xfrm>
            <a:off x="1463040" y="461772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Coût / latence non mesurés — à ajouter pour un usage en production</a:t>
            </a:r>
            <a:endParaRPr lang="en-US" sz="1300" dirty="0"/>
          </a:p>
        </p:txBody>
      </p:sp>
      <p:sp>
        <p:nvSpPr>
          <p:cNvPr id="19" name="Text 13"/>
          <p:cNvSpPr/>
          <p:nvPr/>
        </p:nvSpPr>
        <p:spPr>
          <a:xfrm>
            <a:off x="548640" y="571500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préfère assumer ces limites explicitement plutôt que de présenter un score parfait qui ne résisterait pas à un examen approfondi.</a:t>
            </a:r>
            <a:endParaRPr lang="en-US" sz="1200" dirty="0"/>
          </a:p>
        </p:txBody>
      </p:sp>
      <p:sp>
        <p:nvSpPr>
          <p:cNvPr id="20" name="Text 14"/>
          <p:cNvSpPr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SportSee — NBA Analyst AI</a:t>
            </a:r>
            <a:endParaRPr lang="en-US" sz="900" dirty="0"/>
          </a:p>
        </p:txBody>
      </p:sp>
      <p:sp>
        <p:nvSpPr>
          <p:cNvPr id="21" name="Text 15"/>
          <p:cNvSpPr/>
          <p:nvPr/>
        </p:nvSpPr>
        <p:spPr>
          <a:xfrm>
            <a:off x="1133856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1463040" y="1417320"/>
            <a:ext cx="92628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RAG purement textuel ne suffit pas pour des questions quantitatives précises — même bien conçu, il hallucine faute de la bonne donnée.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463040" y="2651760"/>
            <a:ext cx="411480" cy="411480"/>
          </a:xfrm>
          <a:prstGeom prst="ellipse">
            <a:avLst/>
          </a:prstGeom>
          <a:solidFill>
            <a:srgbClr val="2A3B7D"/>
          </a:solidFill>
          <a:ln/>
        </p:spPr>
      </p:sp>
      <p:pic>
        <p:nvPicPr>
          <p:cNvPr id="5" name="Image 0" descr="/sessions/busy-trusting-darwin/mnt/outputs/pptx_build/icons/checkCircle_E8702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16532" y="2705252"/>
            <a:ext cx="304495" cy="30449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103120" y="2651760"/>
            <a:ext cx="8595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mesure chiffrée, reproductible (evaluate_ragas.py), pas une impression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1463040" y="3273552"/>
            <a:ext cx="411480" cy="411480"/>
          </a:xfrm>
          <a:prstGeom prst="ellipse">
            <a:avLst/>
          </a:prstGeom>
          <a:solidFill>
            <a:srgbClr val="2A3B7D"/>
          </a:solidFill>
          <a:ln/>
        </p:spPr>
      </p:sp>
      <p:pic>
        <p:nvPicPr>
          <p:cNvPr id="8" name="Image 1" descr="/sessions/busy-trusting-darwin/mnt/outputs/pptx_build/icons/checkCircle_E8702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6532" y="3327044"/>
            <a:ext cx="304495" cy="304495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2103120" y="3273552"/>
            <a:ext cx="8595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méthode pour distinguer un vrai bug d’une limite d’outil de mesure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1463040" y="3895344"/>
            <a:ext cx="411480" cy="411480"/>
          </a:xfrm>
          <a:prstGeom prst="ellipse">
            <a:avLst/>
          </a:prstGeom>
          <a:solidFill>
            <a:srgbClr val="2A3B7D"/>
          </a:solidFill>
          <a:ln/>
        </p:spPr>
      </p:sp>
      <p:pic>
        <p:nvPicPr>
          <p:cNvPr id="11" name="Image 2" descr="/sessions/busy-trusting-darwin/mnt/outputs/pptx_build/icons/checkCircle_E8702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6532" y="3948836"/>
            <a:ext cx="304495" cy="304495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2103120" y="3895344"/>
            <a:ext cx="8595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architecture hybride (RAG + SQL + routage) directement réutilisable</a:t>
            </a:r>
            <a:endParaRPr lang="en-US" sz="1400" dirty="0"/>
          </a:p>
        </p:txBody>
      </p:sp>
      <p:sp>
        <p:nvSpPr>
          <p:cNvPr id="13" name="Shape 8"/>
          <p:cNvSpPr/>
          <p:nvPr/>
        </p:nvSpPr>
        <p:spPr>
          <a:xfrm>
            <a:off x="5175504" y="4892040"/>
            <a:ext cx="1828800" cy="0"/>
          </a:xfrm>
          <a:prstGeom prst="line">
            <a:avLst/>
          </a:prstGeom>
          <a:noFill/>
          <a:ln w="19050">
            <a:solidFill>
              <a:srgbClr val="E8702A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731520" y="5120640"/>
            <a:ext cx="107259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87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Merci — questions ?</a:t>
            </a:r>
            <a:endParaRPr lang="en-US" sz="3000" dirty="0"/>
          </a:p>
        </p:txBody>
      </p:sp>
      <p:sp>
        <p:nvSpPr>
          <p:cNvPr id="15" name="Text 10"/>
          <p:cNvSpPr/>
          <p:nvPr/>
        </p:nvSpPr>
        <p:spPr>
          <a:xfrm>
            <a:off x="731520" y="6309360"/>
            <a:ext cx="10725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Fatima Adda — SportSee NBA Analyst AI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2026-08-24T16:55:51Z</dcterms:created>
  <dcterms:modified xsi:type="dcterms:W3CDTF">2026-08-24T16:55:51Z</dcterms:modified>
</cp:coreProperties>
</file>