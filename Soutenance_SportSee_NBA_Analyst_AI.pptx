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(texte seul)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B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Faithfulness</c:v>
                  </c:pt>
                  <c:pt idx="1">
                    <c:v>Answer
Relevancy</c:v>
                  </c:pt>
                  <c:pt idx="2">
                    <c:v>Context
Precision</c:v>
                  </c:pt>
                  <c:pt idx="3">
                    <c:v>Context
Recall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0.867</c:v>
                </c:pt>
                <c:pt idx="1">
                  <c:v>0.295</c:v>
                </c:pt>
                <c:pt idx="2">
                  <c:v>0.274</c:v>
                </c:pt>
                <c:pt idx="3">
                  <c:v>0.346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(+ SQL Tool)</c:v>
                </c:pt>
              </c:strCache>
            </c:strRef>
          </c:tx>
          <c:spPr>
            <a:solidFill>
              <a:srgbClr val="E8702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B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Faithfulness</c:v>
                  </c:pt>
                  <c:pt idx="1">
                    <c:v>Answer
Relevancy</c:v>
                  </c:pt>
                  <c:pt idx="2">
                    <c:v>Context
Precision</c:v>
                  </c:pt>
                  <c:pt idx="3">
                    <c:v>Context
Recall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0.673</c:v>
                </c:pt>
                <c:pt idx="1">
                  <c:v>0.581</c:v>
                </c:pt>
                <c:pt idx="2">
                  <c:v>0.403</c:v>
                </c:pt>
                <c:pt idx="3">
                  <c:v>0.577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B1B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B2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1B2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Bonjour, je vais vous présenter SportSee, un assistant conversationnel destiné aux coachs et analystes NBA, et surtout la démarche d'évaluation objective que j'ai menée pour mesurer l'apport réel d'un enrichissement SQL à un système RAG classique.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point de départ, c'est un constat simple : un RAG purement textuel sait bien répondre à des questions qualitatives, mais échoue structurellement sur les questions chiffrées précises. L'enjeu de la mission était de le vérifier, pas de le supposer — d'où la démarche d'évaluation comparative avant/après.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routeur, construit avec Pydantic AI, décide automatiquement si une question a besoin du contexte texte, du SQL Tool, ou des deux. Le SQL Tool génère sa requête via LangChain (create_sql_query_chain + ChatMistralAI), avec un repli automatique sur un appel direct au SDK Mistral si LangChain échoue. Il ne génère jamais de requête destructrice : validation Pydantic en entrée, SELECT uniquement, limite de lignes, et surtout un mécanisme NO_DATA pour refuser plutôt qu'inventer quand la donnée n'existe pas. La base de données est PostgreSQL.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J'ai volontairement inclus deux questions irréalisables — pas de données match par match dans le fichier source — pour vérifier que le système sait dire 'je ne sais pas' plutôt que d'halluciner un chiffre. C'est un point que je détaillerai.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SQL Tool améliore nettement 3 métriques sur 4. La pertinence des réponses (+0,29) et le rappel du contexte (+0,23) progressent fortement : le système trouve et utilise mieux l'information nécessaire. La faithfulness recule, j'y reviens dans deux slides — ce n'est pas ce que ça semble être au premier regard.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deux exemples illustrent concrètement pourquoi les métriques bougent : le texte seul peut halluciner en toute confiance quand le retrieval se trompe de document, alors que le SQL Tool donne une réponse vérifiable, traçable, directement issue de la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le point le plus important de mon analyse critique : une baisse de score n'est pas automatiquement une baisse de qualité. J'ai vérifié chaque cas ligne par ligne dans les CSV plutôt que de me fier à la moyenne brute, et ça change complètement l'interprétation.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Au-delà de l'évaluation RAGAS, qui mesure la qualité des réponses, j'ai construit une couche de fiabilité indépendante : des garde-fous qui empêchent le SQL Tool de sortir de son périmètre, des tests unitaires qui vérifient que ces garde-fous continuent de fonctionner à chaque modification du code, et une observabilité en continu pour détecter tout problème en production, pas seulement au moment de l'évaluation.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diapositive est un emplacement réservé : à remplacer par une vraie capture d'écran de mon dashboard Logfire avant la soutenance (ou à montrer en direct, ce qui est explicitement attendu). Logfire trace chaque étape du pipeline — recherche vectorielle, génération et exécution SQL via LangChain, génération finale Mistral — ce qui m'a permis de détecter plusieurs bugs réels en conditions d'usage, documentés dans le rapport (ex: l'incohérence needs_plot/needs_sql).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système intègre aussi un OCR de secours pour les rapports scannés, et un outil de visualisation dynamique. J'ai gardé le même principe de sécurité que pour le SQL Tool : aucun de ces deux composants ne peut inventer une donnée — l'OCR échoue proprement sans clé API, et le PlotTool ne trace que des chiffres déjà vérifiés par le SQL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préfère assumer ces limites explicitement plutôt que de présenter un score parfait qui ne résisterait pas à un examen approfondi — c'est d'ailleurs toute la démarche de ce rapport.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conclure : le SQL Tool comble un vrai manque du RAG textuel seul, et je peux le prouver avec des chiffres plutôt qu'une affirmation — c'était l'objectif de cette mission. Je suis prête à répondre à vos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685800"/>
            <a:ext cx="1371600" cy="1371600"/>
          </a:xfrm>
          <a:prstGeom prst="ellipse">
            <a:avLst/>
          </a:prstGeom>
          <a:solidFill>
            <a:srgbClr val="E8702A"/>
          </a:solidFill>
          <a:ln/>
        </p:spPr>
      </p:sp>
      <p:pic>
        <p:nvPicPr>
          <p:cNvPr id="3" name="Image 0" descr="/sessions/busy-trusting-darwin/mnt/outputs/pptx_build/icons/basketbal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556" y="864108"/>
            <a:ext cx="1014984" cy="10149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33172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SportSee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31546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7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NBA Analyst AI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645920" y="3977640"/>
            <a:ext cx="8897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assistant conversationnel hybride RAG + SQL, évalué objectivement avec RAGAS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75504" y="4709160"/>
            <a:ext cx="1828800" cy="0"/>
          </a:xfrm>
          <a:prstGeom prst="line">
            <a:avLst/>
          </a:prstGeom>
          <a:noFill/>
          <a:ln w="19050">
            <a:solidFill>
              <a:srgbClr val="E870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5920" y="4892040"/>
            <a:ext cx="8897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: Évaluez les performances d’un LLM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45920" y="6172200"/>
            <a:ext cx="8897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 Adda  —  Août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et mission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besoin de Sarah, product owner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754880" cy="182880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sessions/busy-trusting-darwin/mnt/outputs/pptx_build/icons/comment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721" y="2112721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Archives texte : discussions Reddit r/nba, rapports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541264" y="2423160"/>
            <a:ext cx="457200" cy="457200"/>
          </a:xfrm>
          <a:prstGeom prst="ellipse">
            <a:avLst/>
          </a:prstGeom>
          <a:solidFill>
            <a:srgbClr val="E8702A"/>
          </a:solidFill>
          <a:ln/>
        </p:spPr>
      </p:sp>
      <p:pic>
        <p:nvPicPr>
          <p:cNvPr id="10" name="Image 1" descr="/sessions/busy-trusting-darwin/mnt/outputs/pptx_build/icons/plu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2482596"/>
            <a:ext cx="338328" cy="33832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72784" y="1737360"/>
            <a:ext cx="4754880" cy="182880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/>
        </p:spPr>
      </p:sp>
      <p:sp>
        <p:nvSpPr>
          <p:cNvPr id="12" name="Shape 8"/>
          <p:cNvSpPr/>
          <p:nvPr/>
        </p:nvSpPr>
        <p:spPr>
          <a:xfrm>
            <a:off x="6592824" y="2011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sessions/busy-trusting-darwin/mnt/outputs/pptx_build/icons/chartBa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865" y="2112721"/>
            <a:ext cx="575158" cy="57515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52944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638544" y="27889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joueurs / équipes (fichier regular_NBA.xlsx)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548640" y="3886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double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48640" y="434340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18" name="Text 13"/>
          <p:cNvSpPr/>
          <p:nvPr/>
        </p:nvSpPr>
        <p:spPr>
          <a:xfrm>
            <a:off x="822960" y="441655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Construire un prototype combinant recherche vectorielle (RAG) et interrogation SQL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22960" y="47548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Évaluer objectivement l’apport du SQL Tool avec le framework RAGAS (before / after)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548640" y="53492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RAG purement textuel répond bien aux questions qualitatives, mais échoue sur les questions chiffrées précises — et peut même inventer un chiffre.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SportSee — NBA Analyst AI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système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270248" y="137160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270248" y="1371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utilisateur (Streamlit)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70448" y="1965960"/>
            <a:ext cx="457200" cy="320040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3813048" y="2331720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77640" y="24231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sessions/busy-trusting-darwin/mnt/outputs/pptx_build/icons/bran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5189" y="2470709"/>
            <a:ext cx="270662" cy="2706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434840" y="2331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 Pydantic AI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 flipH="1">
            <a:off x="3108960" y="2880360"/>
            <a:ext cx="2761488" cy="502920"/>
          </a:xfrm>
          <a:prstGeom prst="bentConnector2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27648" y="2880360"/>
            <a:ext cx="2761488" cy="502920"/>
          </a:xfrm>
          <a:prstGeom prst="bentConnector2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3383280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F4F6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97280" y="35021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/sessions/busy-trusting-darwin/mnt/outputs/pptx_build/icons/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603" y="3573475"/>
            <a:ext cx="405994" cy="40599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828800" y="345643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vectorielle
</a:t>
            </a:r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embeddings — FAISS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793992" y="3383280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F4F6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976872" y="35021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sessions/busy-trusting-darwin/mnt/outputs/pptx_build/icons/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195" y="3573475"/>
            <a:ext cx="405994" cy="40599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08392" y="345643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Tool
</a:t>
            </a:r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NL → SQL + garde-fous — PostgreSQL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3108960" y="4160520"/>
            <a:ext cx="2761488" cy="502920"/>
          </a:xfrm>
          <a:prstGeom prst="bentConnector2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 flipH="1">
            <a:off x="6327648" y="4160520"/>
            <a:ext cx="2761488" cy="502920"/>
          </a:xfrm>
          <a:prstGeom prst="bentConnector2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813048" y="466344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23" name="Shape 18"/>
          <p:cNvSpPr/>
          <p:nvPr/>
        </p:nvSpPr>
        <p:spPr>
          <a:xfrm>
            <a:off x="3977640" y="4736592"/>
            <a:ext cx="457200" cy="457200"/>
          </a:xfrm>
          <a:prstGeom prst="ellipse">
            <a:avLst/>
          </a:prstGeom>
          <a:solidFill>
            <a:srgbClr val="E8702A"/>
          </a:solidFill>
          <a:ln/>
        </p:spPr>
      </p:sp>
      <p:pic>
        <p:nvPicPr>
          <p:cNvPr id="24" name="Image 3" descr="/sessions/busy-trusting-darwin/mnt/outputs/pptx_build/icons/robo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7076" y="4796028"/>
            <a:ext cx="338328" cy="33832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572000" y="466344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Mistral — réponse fondée strictement sur le contexte récupéré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870448" y="5303520"/>
            <a:ext cx="457200" cy="274320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27" name="Shape 21"/>
          <p:cNvSpPr/>
          <p:nvPr/>
        </p:nvSpPr>
        <p:spPr>
          <a:xfrm>
            <a:off x="4270248" y="562356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E8702A"/>
          </a:solidFill>
          <a:ln/>
        </p:spPr>
      </p:sp>
      <p:sp>
        <p:nvSpPr>
          <p:cNvPr id="28" name="Text 22"/>
          <p:cNvSpPr/>
          <p:nvPr/>
        </p:nvSpPr>
        <p:spPr>
          <a:xfrm>
            <a:off x="4270248" y="5623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(+ SQL traçable si utilisé)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10881360" y="5394960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0" name="Image 4" descr="/sessions/busy-trusting-darwin/mnt/outputs/pptx_build/icons/eye_1E276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4852" y="5448452"/>
            <a:ext cx="304495" cy="30449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464040" y="5852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Observabilité 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Logfire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SportSee — NBA Analyst AI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Méthodologie d’évaluation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4" name="Image 0" descr="/sessions/busy-trusting-darwin/mnt/outputs/pptx_build/icons/checkCircle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189" y="1464869"/>
            <a:ext cx="270662" cy="2706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4173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simple / complexe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84248"/>
            <a:ext cx="365760" cy="365760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7" name="Image 1" descr="/sessions/busy-trusting-darwin/mnt/outputs/pptx_build/icons/checkCircle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9" y="2031797"/>
            <a:ext cx="270662" cy="2706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9842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bruité (fautes, langage familier)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551176"/>
            <a:ext cx="365760" cy="365760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10" name="Image 2" descr="/sessions/busy-trusting-darwin/mnt/outputs/pptx_build/icons/checkCircle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9" y="2598725"/>
            <a:ext cx="270662" cy="2706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255117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Chiffré simple / complexe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548640" y="3118104"/>
            <a:ext cx="365760" cy="365760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13" name="Image 3" descr="/sessions/busy-trusting-darwin/mnt/outputs/pptx_build/icons/checkCircle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9" y="3165653"/>
            <a:ext cx="270662" cy="27066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1560" y="311810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Mixte texte + chiffre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548640" y="3685032"/>
            <a:ext cx="365760" cy="365760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16" name="Image 4" descr="/sessions/busy-trusting-darwin/mnt/outputs/pptx_build/icons/checkCircle_1E276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9" y="3732581"/>
            <a:ext cx="270662" cy="27066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1560" y="36850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périmètre (doit être décliné)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548640" y="42976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catégories couvertes par les 13 questions de test (tests/test_questions.py)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7680960" y="141732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20" name="Text 13"/>
          <p:cNvSpPr/>
          <p:nvPr/>
        </p:nvSpPr>
        <p:spPr>
          <a:xfrm>
            <a:off x="7680960" y="15087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7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600" dirty="0"/>
          </a:p>
        </p:txBody>
      </p:sp>
      <p:sp>
        <p:nvSpPr>
          <p:cNvPr id="21" name="Text 14"/>
          <p:cNvSpPr/>
          <p:nvPr/>
        </p:nvSpPr>
        <p:spPr>
          <a:xfrm>
            <a:off x="768096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de test, 7 catégories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7680960" y="30632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4F6FC"/>
          </a:solidFill>
          <a:ln/>
        </p:spPr>
      </p:sp>
      <p:sp>
        <p:nvSpPr>
          <p:cNvPr id="23" name="Text 16"/>
          <p:cNvSpPr/>
          <p:nvPr/>
        </p:nvSpPr>
        <p:spPr>
          <a:xfrm>
            <a:off x="7680960" y="31546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24" name="Text 17"/>
          <p:cNvSpPr/>
          <p:nvPr/>
        </p:nvSpPr>
        <p:spPr>
          <a:xfrm>
            <a:off x="7680960" y="3931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RAGAS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7680960" y="4663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• answer_relevancy • context_precision • context_recall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7680960" y="5257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Juge : Mistral (ChatMistralAI) — pas OpenAI, adapté spécifiquement au projet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548640" y="59436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questions volontairement irréalisables (pas de données match par match) pour vérifier que le système sait dire « je ne sais pas » plutôt que d’halluciner.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SportSee — NBA Analyst AI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chiffrés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finale before / after — 13 questions appariées, sans donnée manquante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11091672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71500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7150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SQL Tool améliore 3 métriques sur 4 : </a:t>
            </a:r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answer_relevancy +0,286, context_recall +0,231, context_precision +0,129. La faithfulness recule (–0,194) — expliqué diapo suivante.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SportSee — NBA Analyst AI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s’améliore concrètement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BEEE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sessions/busy-trusting-darwin/mnt/outputs/pptx_build/icons/timesCircle_E870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171130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691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— une hallucination (T02)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8680" y="233172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Que disent les fans du duo de jeunes ailiers évoqué en playoffs ? »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30632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générée : </a:t>
            </a:r>
            <a:pPr indent="0" marL="0">
              <a:buNone/>
            </a:pPr>
            <a:r>
              <a:rPr lang="en-US" sz="125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Edwards et Jaden McDaniels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5661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Réalité du thread : </a:t>
            </a:r>
            <a:pPr indent="0" marL="0">
              <a:buNone/>
            </a:pPr>
            <a:r>
              <a:rPr lang="en-US" sz="125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Banchero et Franz Wagner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425196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 chunk récupéré, noyé dans un thread sans rapport (context_recall = 0)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91072" y="137160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EAF3EE"/>
          </a:solidFill>
          <a:ln/>
        </p:spPr>
      </p:sp>
      <p:sp>
        <p:nvSpPr>
          <p:cNvPr id="12" name="Shape 9"/>
          <p:cNvSpPr/>
          <p:nvPr/>
        </p:nvSpPr>
        <p:spPr>
          <a:xfrm>
            <a:off x="6565392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sessions/busy-trusting-darwin/mnt/outputs/pptx_build/icons/checkCircle_2C7A4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772" y="1711300"/>
            <a:ext cx="372161" cy="3721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05472" y="1691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— une réponse exacte (T10)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611112" y="233172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Top 3 passeurs de la saison ? »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611112" y="30632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: </a:t>
            </a:r>
            <a:pPr indent="0" marL="0">
              <a:buNone/>
            </a:pPr>
            <a:r>
              <a:rPr lang="en-US" sz="125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Young (11,6), Nikola Jokić (10,2), Tyrese Haliburton (9,2)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611112" y="425196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 impossible à obtenir avec le texte seul — issue directement du SQL Tool, vérifiable et traçable.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SportSee — NBA Analyst AI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baisse de faithfulness expliquée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457200" cy="457200"/>
          </a:xfrm>
          <a:prstGeom prst="ellipse">
            <a:avLst/>
          </a:prstGeom>
          <a:solidFill>
            <a:srgbClr val="FDECEA"/>
          </a:solidFill>
          <a:ln/>
        </p:spPr>
      </p:sp>
      <p:pic>
        <p:nvPicPr>
          <p:cNvPr id="4" name="Image 0" descr="/sessions/busy-trusting-darwin/mnt/outputs/pptx_build/icons/warning_C039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1202436"/>
            <a:ext cx="338328" cy="3383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143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une régression de qualité — une limite de la métrique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9019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 / T09 — cas volontairement irréalisables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2231136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répond correctement « donnée non disponible » (comportement attendu). Mais RAGAS note faithfulness = 0 : un refus ne « cite » pas de contexte à évaluer.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99923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T06 — clarification demandée plutôt qu’un joueur inventé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7240" y="3328416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SQL Tool demande désormais une clarification au lieu d’inventer un joueur non précisé — ce comportement correct fait pourtant chuter le score (1,0 → 0,75).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402336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409651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 — réponse chiffrée courte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7240" y="4425696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exacte et sourcée, mais faithfulness instable d’un run à l’autre selon le juge LLM (non déterministe).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52120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5212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comportement métier s’améliore à chaque fois ; c’est l’outil de mesure qui n’est pas conçu pour évaluer des refus/clarifications.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SportSee — NBA Analyst AI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Fiabilité du système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Garde-fous, tests, observabilité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1897380" y="18745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sessions/busy-trusting-darwin/mnt/outputs/pptx_build/icons/shiel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365" y="198150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880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du SQL Tool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2960" y="3557016"/>
            <a:ext cx="73152" cy="73152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347472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SELECT uniquement, rejet DML/DDL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22960" y="4160520"/>
            <a:ext cx="73152" cy="73152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407822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 lignes, détection d’injection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22960" y="4764024"/>
            <a:ext cx="73152" cy="73152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468172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 NO_DATA plutôt qu’une hallucination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22960" y="5367528"/>
            <a:ext cx="73152" cy="73152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528523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citées vérifiées contre la question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43400" y="160020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4F6FC"/>
          </a:solidFill>
          <a:ln/>
        </p:spPr>
      </p:sp>
      <p:sp>
        <p:nvSpPr>
          <p:cNvPr id="17" name="Shape 14"/>
          <p:cNvSpPr/>
          <p:nvPr/>
        </p:nvSpPr>
        <p:spPr>
          <a:xfrm>
            <a:off x="5692140" y="18745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1" descr="/sessions/busy-trusting-darwin/mnt/outputs/pptx_build/icons/checkCirc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125" y="1981505"/>
            <a:ext cx="608990" cy="60899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26280" y="2880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tests unitaires (pytest)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4617720" y="3557016"/>
            <a:ext cx="73152" cy="73152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21" name="Text 17"/>
          <p:cNvSpPr/>
          <p:nvPr/>
        </p:nvSpPr>
        <p:spPr>
          <a:xfrm>
            <a:off x="4800600" y="347472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Routeur, SQL Tool, PlotTool, validation Pydantic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617720" y="4160520"/>
            <a:ext cx="73152" cy="73152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23" name="Text 19"/>
          <p:cNvSpPr/>
          <p:nvPr/>
        </p:nvSpPr>
        <p:spPr>
          <a:xfrm>
            <a:off x="4800600" y="407822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verts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617720" y="4764024"/>
            <a:ext cx="73152" cy="73152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25" name="Text 21"/>
          <p:cNvSpPr/>
          <p:nvPr/>
        </p:nvSpPr>
        <p:spPr>
          <a:xfrm>
            <a:off x="4800600" y="468172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appel API ni base de données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617720" y="5367528"/>
            <a:ext cx="73152" cy="73152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27" name="Text 23"/>
          <p:cNvSpPr/>
          <p:nvPr/>
        </p:nvSpPr>
        <p:spPr>
          <a:xfrm>
            <a:off x="4800600" y="528523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Exécutables en quelques secondes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8138160" y="160020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4F6FC"/>
          </a:solidFill>
          <a:ln/>
        </p:spPr>
      </p:sp>
      <p:sp>
        <p:nvSpPr>
          <p:cNvPr id="29" name="Shape 25"/>
          <p:cNvSpPr/>
          <p:nvPr/>
        </p:nvSpPr>
        <p:spPr>
          <a:xfrm>
            <a:off x="9486900" y="18745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2" descr="/sessions/busy-trusting-darwin/mnt/outputs/pptx_build/icons/rada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3885" y="1981505"/>
            <a:ext cx="608990" cy="60899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321040" y="2880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Observabilité continue</a:t>
            </a:r>
            <a:endParaRPr lang="en-US" sz="1350" dirty="0"/>
          </a:p>
        </p:txBody>
      </p:sp>
      <p:sp>
        <p:nvSpPr>
          <p:cNvPr id="32" name="Shape 27"/>
          <p:cNvSpPr/>
          <p:nvPr/>
        </p:nvSpPr>
        <p:spPr>
          <a:xfrm>
            <a:off x="8412480" y="3557016"/>
            <a:ext cx="73152" cy="73152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33" name="Text 28"/>
          <p:cNvSpPr/>
          <p:nvPr/>
        </p:nvSpPr>
        <p:spPr>
          <a:xfrm>
            <a:off x="8595360" y="347472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Logfire sur chaque étape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8412480" y="4160520"/>
            <a:ext cx="73152" cy="73152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35" name="Text 30"/>
          <p:cNvSpPr/>
          <p:nvPr/>
        </p:nvSpPr>
        <p:spPr>
          <a:xfrm>
            <a:off x="8595360" y="407822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vectorielle, appel SQL, génération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8412480" y="4764024"/>
            <a:ext cx="73152" cy="73152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37" name="Text 32"/>
          <p:cNvSpPr/>
          <p:nvPr/>
        </p:nvSpPr>
        <p:spPr>
          <a:xfrm>
            <a:off x="8595360" y="468172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consultable en temps réel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8412480" y="5367528"/>
            <a:ext cx="73152" cy="73152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39" name="Text 34"/>
          <p:cNvSpPr/>
          <p:nvPr/>
        </p:nvSpPr>
        <p:spPr>
          <a:xfrm>
            <a:off x="8595360" y="528523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en production, pas qu’à l’évaluation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SportSee — NBA Analyst AI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Observabilité : Pydantic Logfire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étape du pipeline tracée en continu, pas seulement au moment de l’évaluation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4F6FC"/>
          </a:solidFill>
          <a:ln w="19050">
            <a:solidFill>
              <a:srgbClr val="CADCFC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682996" y="27432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sessions/busy-trusting-darwin/mnt/outputs/pptx_build/icons/eye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9981" y="285018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794760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d’écran du dashboard Logfire à insérer ici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297680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(remplacer ce bloc par une capture réelle du projet Logfire — ou faire une démonstration live pendant la soutenance)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486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tracées : recherche vectorielle (FAISS), génération + exécution SQL (LangChain), génération finale (Mistral), erreurs et repli (fallback direct Mistral, garde-fous rejetés).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SportSee — NBA Analyst AI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 et visualisation dynamique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composants du système, au même niveau d’exigence que le SQL Tool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sessions/busy-trusting-darwin/mnt/outputs/pptx_build/icons/fileImag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170" y="186629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92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— fallback Nanonets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automatique quand un PDF n’a pas de couche de texte (rapport scanné).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14400" y="3383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0,00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14400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97480" y="35661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sessions/busy-trusting-darwin/mnt/outputs/pptx_build/icons/arrowRight_E8702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916" y="362559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3383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7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0,9757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3291840" y="3931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(similarité)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822960" y="44805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413 caractères restitués sur un document de test synthétique reproductible (evaluate_ocr.py) — amélioration de +0,98.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22960" y="53492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clé API : désactivation propre, aucun crash.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91072" y="150876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4F6FC"/>
          </a:solidFill>
          <a:ln/>
        </p:spPr>
      </p:sp>
      <p:sp>
        <p:nvSpPr>
          <p:cNvPr id="18" name="Shape 14"/>
          <p:cNvSpPr/>
          <p:nvPr/>
        </p:nvSpPr>
        <p:spPr>
          <a:xfrm>
            <a:off x="6565392" y="17830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sessions/busy-trusting-darwin/mnt/outputs/pptx_build/icons/chartPi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1866290"/>
            <a:ext cx="473659" cy="47365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388352" y="1892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PlotTool — graphiques dynamiques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565392" y="26517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chatbot produit un graphique (barres / courbe / camembert) sur demande explicite (« montre un graphique de… »).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565392" y="3566160"/>
            <a:ext cx="48006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23" name="Text 18"/>
          <p:cNvSpPr/>
          <p:nvPr/>
        </p:nvSpPr>
        <p:spPr>
          <a:xfrm>
            <a:off x="6793992" y="356616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Garde-fou : le PlotTool ne réutilise QUE les données déjà validées par le SQL Tool — il ne peut pas inventer une valeur.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565392" y="516636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le type de graphique est choisi automatiquement (heuristique, sans appel LLM supplémentaire).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SportSee — NBA Analyst AI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et pistes d’amélioration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4" name="Image 0" descr="/sessions/busy-trusting-darwin/mnt/outputs/pptx_build/icons/lightbulb_E870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020" y="1802740"/>
            <a:ext cx="372161" cy="37216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34440" y="173736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F9FAFB"/>
          </a:solidFill>
          <a:ln/>
        </p:spPr>
      </p:sp>
      <p:sp>
        <p:nvSpPr>
          <p:cNvPr id="6" name="Text 3"/>
          <p:cNvSpPr/>
          <p:nvPr/>
        </p:nvSpPr>
        <p:spPr>
          <a:xfrm>
            <a:off x="1463040" y="17373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Échantillon volontairement restreint (13 questions) — à élargir pour des scores statistiquement robustes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8" name="Image 1" descr="/sessions/busy-trusting-darwin/mnt/outputs/pptx_build/icons/lightbulb_E8702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20" y="2762860"/>
            <a:ext cx="372161" cy="37216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234440" y="269748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F9FAFB"/>
          </a:solidFill>
          <a:ln/>
        </p:spPr>
      </p:sp>
      <p:sp>
        <p:nvSpPr>
          <p:cNvPr id="10" name="Text 6"/>
          <p:cNvSpPr/>
          <p:nvPr/>
        </p:nvSpPr>
        <p:spPr>
          <a:xfrm>
            <a:off x="1463040" y="26974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Granularité des données NBA limitée à la saison (pas de match par match, pas de domicile/extérieur)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12" name="Image 2" descr="/sessions/busy-trusting-darwin/mnt/outputs/pptx_build/icons/lightbulb_E8702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3722980"/>
            <a:ext cx="372161" cy="372161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234440" y="365760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F9FAFB"/>
          </a:solidFill>
          <a:ln/>
        </p:spPr>
      </p:sp>
      <p:sp>
        <p:nvSpPr>
          <p:cNvPr id="14" name="Text 9"/>
          <p:cNvSpPr/>
          <p:nvPr/>
        </p:nvSpPr>
        <p:spPr>
          <a:xfrm>
            <a:off x="1463040" y="36576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truths à faire valider par un référent métier (Sarah)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16" name="Image 3" descr="/sessions/busy-trusting-darwin/mnt/outputs/pptx_build/icons/lightbulb_E8702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20" y="4683100"/>
            <a:ext cx="372161" cy="372161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234440" y="461772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F9FAFB"/>
          </a:solidFill>
          <a:ln/>
        </p:spPr>
      </p:sp>
      <p:sp>
        <p:nvSpPr>
          <p:cNvPr id="18" name="Text 12"/>
          <p:cNvSpPr/>
          <p:nvPr/>
        </p:nvSpPr>
        <p:spPr>
          <a:xfrm>
            <a:off x="1463040" y="4617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/ latence non mesurés — à ajouter pour un usage en production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48640" y="57150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préfère assumer ces limites explicitement plutôt que de présenter un score parfait qui ne résisterait pas à un examen approfondi.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SportSee — NBA Analyst AI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463040" y="1417320"/>
            <a:ext cx="9262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RAG purement textuel ne suffit pas pour des questions quantitatives précises — même bien conçu, il hallucine faute de la bonne donnée.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463040" y="2651760"/>
            <a:ext cx="411480" cy="411480"/>
          </a:xfrm>
          <a:prstGeom prst="ellipse">
            <a:avLst/>
          </a:prstGeom>
          <a:solidFill>
            <a:srgbClr val="2A3B7D"/>
          </a:solidFill>
          <a:ln/>
        </p:spPr>
      </p:sp>
      <p:pic>
        <p:nvPicPr>
          <p:cNvPr id="5" name="Image 0" descr="/sessions/busy-trusting-darwin/mnt/outputs/pptx_build/icons/checkCircle_E870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6532" y="2705252"/>
            <a:ext cx="304495" cy="3044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26517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mesure chiffrée, reproductible (evaluate_ragas.py), pas une impression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463040" y="3273552"/>
            <a:ext cx="411480" cy="411480"/>
          </a:xfrm>
          <a:prstGeom prst="ellipse">
            <a:avLst/>
          </a:prstGeom>
          <a:solidFill>
            <a:srgbClr val="2A3B7D"/>
          </a:solidFill>
          <a:ln/>
        </p:spPr>
      </p:sp>
      <p:pic>
        <p:nvPicPr>
          <p:cNvPr id="8" name="Image 1" descr="/sessions/busy-trusting-darwin/mnt/outputs/pptx_build/icons/checkCircle_E8702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532" y="3327044"/>
            <a:ext cx="304495" cy="3044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103120" y="327355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méthode pour distinguer un vrai bug d’une limite d’outil de mesure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1463040" y="3895344"/>
            <a:ext cx="411480" cy="411480"/>
          </a:xfrm>
          <a:prstGeom prst="ellipse">
            <a:avLst/>
          </a:prstGeom>
          <a:solidFill>
            <a:srgbClr val="2A3B7D"/>
          </a:solidFill>
          <a:ln/>
        </p:spPr>
      </p:sp>
      <p:pic>
        <p:nvPicPr>
          <p:cNvPr id="11" name="Image 2" descr="/sessions/busy-trusting-darwin/mnt/outputs/pptx_build/icons/checkCircle_E8702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532" y="3948836"/>
            <a:ext cx="304495" cy="30449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103120" y="3895344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architecture hybride (RAG + SQL + routage) directement réutilisable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175504" y="4892040"/>
            <a:ext cx="1828800" cy="0"/>
          </a:xfrm>
          <a:prstGeom prst="line">
            <a:avLst/>
          </a:prstGeom>
          <a:noFill/>
          <a:ln w="19050">
            <a:solidFill>
              <a:srgbClr val="E8702A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31520" y="512064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7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— questions ?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731520" y="630936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 Adda — SportSee NBA Analyst 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2026-08-24T15:36:42Z</dcterms:created>
  <dcterms:modified xsi:type="dcterms:W3CDTF">2026-08-24T15:36:42Z</dcterms:modified>
</cp:coreProperties>
</file>